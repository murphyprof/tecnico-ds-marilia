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3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theme" Target="theme/theme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presProps" Target="presProps.xml" /><Relationship Id="rId25" Type="http://schemas.openxmlformats.org/officeDocument/2006/relationships/tableStyles" Target="tableStyles.xml" /><Relationship Id="rId26" Type="http://schemas.openxmlformats.org/officeDocument/2006/relationships/viewProps" Target="viewProps.xml" /></Relationships>
</file>

<file path=ppt/handoutMasters/_rels/handout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109573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6097535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6200" y="0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r">
              <a:defRPr sz="1200"/>
            </a:lvl1pPr>
          </a:lstStyle>
          <a:p>
            <a:pPr>
              <a:defRPr/>
            </a:pPr>
            <a:fld id="{FA989DF0-9CE8-C7A2-2D42-E9E623EE7914}" type="datetimeFigureOut">
              <a:rPr lang="en-US"/>
              <a:t/>
            </a:fld>
            <a:endParaRPr/>
          </a:p>
        </p:txBody>
      </p:sp>
      <p:sp>
        <p:nvSpPr>
          <p:cNvPr id="657036717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8685213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49142593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86200" y="8685213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>
              <a:defRPr/>
            </a:pPr>
            <a:fld id="{795AF078-CEE0-5892-E51B-A70AD6D98984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720351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57606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6200" y="0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r">
              <a:defRPr sz="1200"/>
            </a:lvl1pPr>
          </a:lstStyle>
          <a:p>
            <a:pPr>
              <a:defRPr/>
            </a:pPr>
            <a:fld id="{EC04A457-CE2A-299C-F9B5-3090C33220E6}" type="datetimeFigureOut">
              <a:rPr lang="en-US"/>
              <a:t/>
            </a:fld>
            <a:endParaRPr/>
          </a:p>
        </p:txBody>
      </p:sp>
      <p:sp>
        <p:nvSpPr>
          <p:cNvPr id="199209432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799" y="47434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7284539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8685213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28658512" name="Slide Image Placeholder 3"/>
          <p:cNvSpPr>
            <a:spLocks noGrp="1"/>
          </p:cNvSpPr>
          <p:nvPr>
            <p:ph type="sldImg" sz="quarter" idx="2"/>
          </p:nvPr>
        </p:nvSpPr>
        <p:spPr bwMode="auto">
          <a:xfrm>
            <a:off x="685868" y="1143000"/>
            <a:ext cx="5486262" cy="3086100"/>
          </a:xfrm>
          <a:prstGeom prst="rect">
            <a:avLst/>
          </a:prstGeom>
          <a:ln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>
              <a:defRPr/>
            </a:pPr>
            <a:endParaRPr/>
          </a:p>
        </p:txBody>
      </p:sp>
      <p:sp>
        <p:nvSpPr>
          <p:cNvPr id="1370676943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86200" y="8685213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>
              <a:defRPr/>
            </a:pPr>
            <a:fld id="{525C248F-92AD-5032-0438-651DD2895364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679637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2373979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7589713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7566259-FD0B-BA6F-6846-F839D2415D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695390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2883317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0713364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9A720B52-2EE4-EECA-62F8-15E7F4E15B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707478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0065658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8273393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CB75307E-3F89-81C6-3321-E0119E8F305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002161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1205624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3010785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DCE478F-B75A-267A-A7F7-F2BF9B9152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5837207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5048641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696346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F119EAC3-4071-E4F6-3EC6-3C81BF606A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7229876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8758101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791367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283928E0-F5B0-0F83-A5EA-50FFAF3A17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2505723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1961503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5456086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0C235859-AE0D-0EF8-159C-8A9F9FAB2E4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4139416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196277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656546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9E1641A8-F3E9-D644-51E9-BF856DF36B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313093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2473346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332358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A56B3265-2B53-5508-CE67-DA358FE1C2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860982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990224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9493282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90F9C096-992C-E472-7261-6AF1EA1910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415652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4964944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4811710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C8DD9367-C9FF-2AC2-A366-3DACE24D38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486875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3907866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923517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2DEA544-9F3B-F4F9-91C4-B70E6E49A5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762180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812508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9482295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68EECB0B-05CB-0727-1B4F-918040B67D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64552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513478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4832038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16FD0BC8-ED9A-D695-E913-F6E0BD3E3F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7888082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8996288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3610475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24505561-B8B7-65E1-9592-EF875C5971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458278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0925643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9581168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B825F126-6B6B-0ED8-0350-8948AD49AA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325196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2386551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455515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F74AC1F-1CED-6B4C-CE52-4C7741E4CCE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274463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36726680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67955066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205447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870026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837412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517101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6731248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138847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4932352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3491777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4622257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6248927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6581673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27843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82333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271178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2725679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562295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7794719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210787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09259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6059976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2161376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3841341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838040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6680560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33192691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382883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487920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899727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8180496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4272060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392952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4979458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7234935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688508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45493735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5346831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5303320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02159129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921704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0378532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93076071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03017839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1329310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0131150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969911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940736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7919807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897022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697038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1227553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702836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4409719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2920368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2726087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00592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030171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3427493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2755971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3213011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878322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662676" name="Rectangle 1"/>
          <p:cNvSpPr/>
          <p:nvPr/>
        </p:nvSpPr>
        <p:spPr bwMode="auto">
          <a:xfrm>
            <a:off x="0" y="0"/>
            <a:ext cx="12191695" cy="201168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5990804" name="Rectangle 2"/>
          <p:cNvSpPr/>
          <p:nvPr/>
        </p:nvSpPr>
        <p:spPr bwMode="auto">
          <a:xfrm>
            <a:off x="0" y="6382512"/>
            <a:ext cx="12191695" cy="475488"/>
          </a:xfrm>
          <a:prstGeom prst="rect">
            <a:avLst/>
          </a:prstGeom>
          <a:solidFill>
            <a:srgbClr val="23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6522520" name="TextBox 3"/>
          <p:cNvSpPr txBox="1"/>
          <p:nvPr/>
        </p:nvSpPr>
        <p:spPr bwMode="auto">
          <a:xfrm>
            <a:off x="822960" y="1051560"/>
            <a:ext cx="1051560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1800" b="1" i="0">
                <a:solidFill>
                  <a:srgbClr val="BE192D"/>
                </a:solidFill>
                <a:latin typeface="Arial"/>
              </a:rPr>
              <a:t>PROGRAMAÇÃO WEB • PHP</a:t>
            </a:r>
            <a:endParaRPr/>
          </a:p>
        </p:txBody>
      </p:sp>
      <p:sp>
        <p:nvSpPr>
          <p:cNvPr id="944210082" name="TextBox 4"/>
          <p:cNvSpPr txBox="1"/>
          <p:nvPr/>
        </p:nvSpPr>
        <p:spPr bwMode="auto">
          <a:xfrm>
            <a:off x="914400" y="1828800"/>
            <a:ext cx="10332720" cy="10058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3400" b="1" i="0">
                <a:solidFill>
                  <a:srgbClr val="23262A"/>
                </a:solidFill>
                <a:latin typeface="Arial Black"/>
              </a:rPr>
              <a:t>ENTRADA DE DADOS</a:t>
            </a:r>
            <a:endParaRPr/>
          </a:p>
        </p:txBody>
      </p:sp>
      <p:sp>
        <p:nvSpPr>
          <p:cNvPr id="793459540" name="TextBox 5"/>
          <p:cNvSpPr txBox="1"/>
          <p:nvPr/>
        </p:nvSpPr>
        <p:spPr bwMode="auto">
          <a:xfrm>
            <a:off x="1828800" y="3017519"/>
            <a:ext cx="8503920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200" b="0" i="0">
                <a:solidFill>
                  <a:srgbClr val="646970"/>
                </a:solidFill>
                <a:latin typeface="Arial"/>
              </a:rPr>
              <a:t>Do formulário HTML ao processamento no servidor</a:t>
            </a:r>
            <a:endParaRPr/>
          </a:p>
        </p:txBody>
      </p:sp>
      <p:sp>
        <p:nvSpPr>
          <p:cNvPr id="1958821601" name="Rounded Rectangle 6"/>
          <p:cNvSpPr/>
          <p:nvPr/>
        </p:nvSpPr>
        <p:spPr bwMode="auto">
          <a:xfrm>
            <a:off x="1234440" y="4251960"/>
            <a:ext cx="1554480" cy="73152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2216657" name="TextBox 7"/>
          <p:cNvSpPr txBox="1"/>
          <p:nvPr/>
        </p:nvSpPr>
        <p:spPr bwMode="auto">
          <a:xfrm>
            <a:off x="1298448" y="4407408"/>
            <a:ext cx="141732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1400" b="1" i="0">
                <a:solidFill>
                  <a:srgbClr val="23262A"/>
                </a:solidFill>
                <a:latin typeface="Arial"/>
              </a:rPr>
              <a:t>USUÁRIO</a:t>
            </a:r>
            <a:endParaRPr/>
          </a:p>
        </p:txBody>
      </p:sp>
      <p:sp>
        <p:nvSpPr>
          <p:cNvPr id="439371798" name="Rounded Rectangle 8"/>
          <p:cNvSpPr/>
          <p:nvPr/>
        </p:nvSpPr>
        <p:spPr bwMode="auto">
          <a:xfrm>
            <a:off x="3977639" y="4251960"/>
            <a:ext cx="1554480" cy="731520"/>
          </a:xfrm>
          <a:prstGeom prst="roundRect">
            <a:avLst>
              <a:gd name="adj" fmla="val 12000"/>
            </a:avLst>
          </a:prstGeom>
          <a:solidFill>
            <a:srgbClr val="FC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07760230" name="TextBox 9"/>
          <p:cNvSpPr txBox="1"/>
          <p:nvPr/>
        </p:nvSpPr>
        <p:spPr bwMode="auto">
          <a:xfrm>
            <a:off x="4041648" y="4407408"/>
            <a:ext cx="141732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1400" b="1" i="0">
                <a:solidFill>
                  <a:srgbClr val="BE192D"/>
                </a:solidFill>
                <a:latin typeface="Arial"/>
              </a:rPr>
              <a:t>FORMULÁRIO</a:t>
            </a:r>
            <a:endParaRPr/>
          </a:p>
        </p:txBody>
      </p:sp>
      <p:sp>
        <p:nvSpPr>
          <p:cNvPr id="941539680" name="Rounded Rectangle 10"/>
          <p:cNvSpPr/>
          <p:nvPr/>
        </p:nvSpPr>
        <p:spPr bwMode="auto">
          <a:xfrm>
            <a:off x="6720840" y="4251960"/>
            <a:ext cx="1554480" cy="731520"/>
          </a:xfrm>
          <a:prstGeom prst="roundRect">
            <a:avLst>
              <a:gd name="adj" fmla="val 12000"/>
            </a:avLst>
          </a:prstGeom>
          <a:solidFill>
            <a:srgbClr val="FC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5597716" name="TextBox 11"/>
          <p:cNvSpPr txBox="1"/>
          <p:nvPr/>
        </p:nvSpPr>
        <p:spPr bwMode="auto">
          <a:xfrm>
            <a:off x="6784848" y="4407408"/>
            <a:ext cx="141732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1400" b="1" i="0">
                <a:solidFill>
                  <a:srgbClr val="BE192D"/>
                </a:solidFill>
                <a:latin typeface="Arial"/>
              </a:rPr>
              <a:t>PHP</a:t>
            </a:r>
            <a:endParaRPr/>
          </a:p>
        </p:txBody>
      </p:sp>
      <p:sp>
        <p:nvSpPr>
          <p:cNvPr id="1440720458" name="Rounded Rectangle 12"/>
          <p:cNvSpPr/>
          <p:nvPr/>
        </p:nvSpPr>
        <p:spPr bwMode="auto">
          <a:xfrm>
            <a:off x="9464040" y="4251960"/>
            <a:ext cx="1554480" cy="73152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7011727" name="TextBox 13"/>
          <p:cNvSpPr txBox="1"/>
          <p:nvPr/>
        </p:nvSpPr>
        <p:spPr bwMode="auto">
          <a:xfrm>
            <a:off x="9528048" y="4407408"/>
            <a:ext cx="141732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1400" b="1" i="0">
                <a:solidFill>
                  <a:srgbClr val="23262A"/>
                </a:solidFill>
                <a:latin typeface="Arial"/>
              </a:rPr>
              <a:t>RESPOSTA</a:t>
            </a:r>
            <a:endParaRPr/>
          </a:p>
        </p:txBody>
      </p:sp>
      <p:sp>
        <p:nvSpPr>
          <p:cNvPr id="3233084" name="TextBox 14"/>
          <p:cNvSpPr txBox="1"/>
          <p:nvPr/>
        </p:nvSpPr>
        <p:spPr bwMode="auto">
          <a:xfrm>
            <a:off x="3246120" y="4370832"/>
            <a:ext cx="59436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400" b="1" i="0">
                <a:solidFill>
                  <a:srgbClr val="BE192D"/>
                </a:solidFill>
                <a:latin typeface="Arial"/>
              </a:rPr>
              <a:t>→</a:t>
            </a:r>
            <a:endParaRPr/>
          </a:p>
        </p:txBody>
      </p:sp>
      <p:sp>
        <p:nvSpPr>
          <p:cNvPr id="1435882338" name="TextBox 15"/>
          <p:cNvSpPr txBox="1"/>
          <p:nvPr/>
        </p:nvSpPr>
        <p:spPr bwMode="auto">
          <a:xfrm>
            <a:off x="5989320" y="4370832"/>
            <a:ext cx="59436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400" b="1" i="0">
                <a:solidFill>
                  <a:srgbClr val="BE192D"/>
                </a:solidFill>
                <a:latin typeface="Arial"/>
              </a:rPr>
              <a:t>→</a:t>
            </a:r>
            <a:endParaRPr/>
          </a:p>
        </p:txBody>
      </p:sp>
      <p:sp>
        <p:nvSpPr>
          <p:cNvPr id="1423877846" name="TextBox 16"/>
          <p:cNvSpPr txBox="1"/>
          <p:nvPr/>
        </p:nvSpPr>
        <p:spPr bwMode="auto">
          <a:xfrm>
            <a:off x="8732520" y="4370832"/>
            <a:ext cx="59436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400" b="1" i="0">
                <a:solidFill>
                  <a:srgbClr val="BE192D"/>
                </a:solidFill>
                <a:latin typeface="Arial"/>
              </a:rPr>
              <a:t>→</a:t>
            </a:r>
            <a:endParaRPr/>
          </a:p>
        </p:txBody>
      </p:sp>
      <p:sp>
        <p:nvSpPr>
          <p:cNvPr id="1887976102" name="TextBox 17"/>
          <p:cNvSpPr txBox="1"/>
          <p:nvPr/>
        </p:nvSpPr>
        <p:spPr bwMode="auto">
          <a:xfrm>
            <a:off x="731520" y="5584545"/>
            <a:ext cx="10698840" cy="3984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1400" b="1" i="0">
                <a:solidFill>
                  <a:schemeClr val="tx1"/>
                </a:solidFill>
                <a:latin typeface="Arial"/>
              </a:rPr>
              <a:t>Prof. Marcelo Hugo  |  ETEC / Centro Paula Souza</a:t>
            </a: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3573037" name="Rectangle 1"/>
          <p:cNvSpPr/>
          <p:nvPr/>
        </p:nvSpPr>
        <p:spPr bwMode="auto">
          <a:xfrm>
            <a:off x="0" y="0"/>
            <a:ext cx="12191695" cy="1463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6116245" name="TextBox 2"/>
          <p:cNvSpPr txBox="1"/>
          <p:nvPr/>
        </p:nvSpPr>
        <p:spPr bwMode="auto">
          <a:xfrm>
            <a:off x="411480" y="256032"/>
            <a:ext cx="11338560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800" b="1" i="0">
                <a:solidFill>
                  <a:srgbClr val="23262A"/>
                </a:solidFill>
                <a:latin typeface="Arial Black"/>
              </a:rPr>
              <a:t>O que vamos aprender?</a:t>
            </a:r>
            <a:endParaRPr/>
          </a:p>
        </p:txBody>
      </p:sp>
      <p:sp>
        <p:nvSpPr>
          <p:cNvPr id="1720290190" name="Rectangle 3"/>
          <p:cNvSpPr/>
          <p:nvPr/>
        </p:nvSpPr>
        <p:spPr bwMode="auto">
          <a:xfrm>
            <a:off x="502920" y="932688"/>
            <a:ext cx="11183112" cy="320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7266996" name="TextBox 4"/>
          <p:cNvSpPr txBox="1"/>
          <p:nvPr/>
        </p:nvSpPr>
        <p:spPr bwMode="auto"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900" b="1" i="0">
                <a:solidFill>
                  <a:srgbClr val="646970"/>
                </a:solidFill>
                <a:latin typeface="Arial"/>
              </a:rPr>
              <a:t>PHP • ENTRADA DE DADOS</a:t>
            </a:r>
            <a:endParaRPr/>
          </a:p>
        </p:txBody>
      </p:sp>
      <p:sp>
        <p:nvSpPr>
          <p:cNvPr id="1734984853" name="TextBox 5"/>
          <p:cNvSpPr txBox="1"/>
          <p:nvPr/>
        </p:nvSpPr>
        <p:spPr bwMode="auto">
          <a:xfrm>
            <a:off x="10698480" y="6492240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  <a:spcAft>
                <a:spcPts val="700"/>
              </a:spcAft>
              <a:defRPr/>
            </a:pPr>
            <a:r>
              <a:rPr sz="900" b="0" i="0">
                <a:solidFill>
                  <a:srgbClr val="646970"/>
                </a:solidFill>
                <a:latin typeface="Arial"/>
              </a:rPr>
              <a:t>02</a:t>
            </a:r>
            <a:endParaRPr/>
          </a:p>
        </p:txBody>
      </p:sp>
      <p:sp>
        <p:nvSpPr>
          <p:cNvPr id="1868462707" name="TextBox 6"/>
          <p:cNvSpPr txBox="1"/>
          <p:nvPr/>
        </p:nvSpPr>
        <p:spPr bwMode="auto">
          <a:xfrm>
            <a:off x="731520" y="1234440"/>
            <a:ext cx="1078992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1800" b="1" i="0">
                <a:solidFill>
                  <a:srgbClr val="BE192D"/>
                </a:solidFill>
                <a:latin typeface="Arial"/>
              </a:rPr>
              <a:t>Ao final, você fará um formulário funcionar de ponta a ponta.</a:t>
            </a:r>
            <a:endParaRPr/>
          </a:p>
        </p:txBody>
      </p:sp>
      <p:sp>
        <p:nvSpPr>
          <p:cNvPr id="2023156033" name="Rounded Rectangle 7"/>
          <p:cNvSpPr/>
          <p:nvPr/>
        </p:nvSpPr>
        <p:spPr bwMode="auto">
          <a:xfrm>
            <a:off x="777240" y="1937511"/>
            <a:ext cx="146304" cy="146304"/>
          </a:xfrm>
          <a:prstGeom prst="roundRect">
            <a:avLst>
              <a:gd name="adj" fmla="val 12000"/>
            </a:avLst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9445583" name="TextBox 8"/>
          <p:cNvSpPr txBox="1"/>
          <p:nvPr/>
        </p:nvSpPr>
        <p:spPr bwMode="auto">
          <a:xfrm>
            <a:off x="1078992" y="1737360"/>
            <a:ext cx="100584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2200" b="0" i="0">
                <a:solidFill>
                  <a:srgbClr val="23262A"/>
                </a:solidFill>
                <a:latin typeface="Arial"/>
              </a:rPr>
              <a:t>Entender como o navegador envia dados para o PHP.</a:t>
            </a:r>
            <a:endParaRPr/>
          </a:p>
        </p:txBody>
      </p:sp>
      <p:sp>
        <p:nvSpPr>
          <p:cNvPr id="898888327" name="Rounded Rectangle 9"/>
          <p:cNvSpPr/>
          <p:nvPr/>
        </p:nvSpPr>
        <p:spPr bwMode="auto">
          <a:xfrm>
            <a:off x="777240" y="2742183"/>
            <a:ext cx="146304" cy="146304"/>
          </a:xfrm>
          <a:prstGeom prst="roundRect">
            <a:avLst>
              <a:gd name="adj" fmla="val 12000"/>
            </a:avLst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1677374" name="TextBox 10"/>
          <p:cNvSpPr txBox="1"/>
          <p:nvPr/>
        </p:nvSpPr>
        <p:spPr bwMode="auto">
          <a:xfrm>
            <a:off x="1078992" y="2542032"/>
            <a:ext cx="100584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2200" b="0" i="0">
                <a:solidFill>
                  <a:srgbClr val="23262A"/>
                </a:solidFill>
                <a:latin typeface="Arial"/>
              </a:rPr>
              <a:t>Criar formulários HTML com campos e botão de envio.</a:t>
            </a:r>
            <a:endParaRPr/>
          </a:p>
        </p:txBody>
      </p:sp>
      <p:sp>
        <p:nvSpPr>
          <p:cNvPr id="76839364" name="Rounded Rectangle 11"/>
          <p:cNvSpPr/>
          <p:nvPr/>
        </p:nvSpPr>
        <p:spPr bwMode="auto">
          <a:xfrm>
            <a:off x="777240" y="3546855"/>
            <a:ext cx="146304" cy="146304"/>
          </a:xfrm>
          <a:prstGeom prst="roundRect">
            <a:avLst>
              <a:gd name="adj" fmla="val 12000"/>
            </a:avLst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0671548" name="TextBox 12"/>
          <p:cNvSpPr txBox="1"/>
          <p:nvPr/>
        </p:nvSpPr>
        <p:spPr bwMode="auto">
          <a:xfrm>
            <a:off x="1078992" y="3346704"/>
            <a:ext cx="100584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2200" b="0" i="0">
                <a:solidFill>
                  <a:srgbClr val="23262A"/>
                </a:solidFill>
                <a:latin typeface="Arial"/>
              </a:rPr>
              <a:t>Ler valores usando $_GET e $_POST.</a:t>
            </a:r>
            <a:endParaRPr/>
          </a:p>
        </p:txBody>
      </p:sp>
      <p:sp>
        <p:nvSpPr>
          <p:cNvPr id="2135154681" name="Rounded Rectangle 13"/>
          <p:cNvSpPr/>
          <p:nvPr/>
        </p:nvSpPr>
        <p:spPr bwMode="auto">
          <a:xfrm>
            <a:off x="777240" y="4351527"/>
            <a:ext cx="146304" cy="146304"/>
          </a:xfrm>
          <a:prstGeom prst="roundRect">
            <a:avLst>
              <a:gd name="adj" fmla="val 12000"/>
            </a:avLst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1161618" name="TextBox 14"/>
          <p:cNvSpPr txBox="1"/>
          <p:nvPr/>
        </p:nvSpPr>
        <p:spPr bwMode="auto">
          <a:xfrm>
            <a:off x="1078992" y="4151376"/>
            <a:ext cx="100584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2200" b="0" i="0">
                <a:solidFill>
                  <a:srgbClr val="23262A"/>
                </a:solidFill>
                <a:latin typeface="Arial"/>
              </a:rPr>
              <a:t>Validar entradas e apresentar uma resposta segura.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742326" name="Rectangle 1"/>
          <p:cNvSpPr/>
          <p:nvPr/>
        </p:nvSpPr>
        <p:spPr bwMode="auto">
          <a:xfrm>
            <a:off x="0" y="0"/>
            <a:ext cx="12191695" cy="1463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6257710" name="TextBox 2"/>
          <p:cNvSpPr txBox="1"/>
          <p:nvPr/>
        </p:nvSpPr>
        <p:spPr bwMode="auto">
          <a:xfrm>
            <a:off x="411480" y="256032"/>
            <a:ext cx="11338560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800" b="1" i="0">
                <a:solidFill>
                  <a:srgbClr val="23262A"/>
                </a:solidFill>
                <a:latin typeface="Arial Black"/>
              </a:rPr>
              <a:t>O que é entrada de dados?</a:t>
            </a:r>
            <a:endParaRPr/>
          </a:p>
        </p:txBody>
      </p:sp>
      <p:sp>
        <p:nvSpPr>
          <p:cNvPr id="2010318128" name="Rectangle 3"/>
          <p:cNvSpPr/>
          <p:nvPr/>
        </p:nvSpPr>
        <p:spPr bwMode="auto">
          <a:xfrm>
            <a:off x="502920" y="932688"/>
            <a:ext cx="11183112" cy="320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75813" name="TextBox 4"/>
          <p:cNvSpPr txBox="1"/>
          <p:nvPr/>
        </p:nvSpPr>
        <p:spPr bwMode="auto"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900" b="1" i="0">
                <a:solidFill>
                  <a:srgbClr val="646970"/>
                </a:solidFill>
                <a:latin typeface="Arial"/>
              </a:rPr>
              <a:t>PHP • ENTRADA DE DADOS</a:t>
            </a:r>
            <a:endParaRPr/>
          </a:p>
        </p:txBody>
      </p:sp>
      <p:sp>
        <p:nvSpPr>
          <p:cNvPr id="117782315" name="TextBox 5"/>
          <p:cNvSpPr txBox="1"/>
          <p:nvPr/>
        </p:nvSpPr>
        <p:spPr bwMode="auto">
          <a:xfrm>
            <a:off x="10698480" y="6492240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  <a:spcAft>
                <a:spcPts val="700"/>
              </a:spcAft>
              <a:defRPr/>
            </a:pPr>
            <a:r>
              <a:rPr sz="900" b="0" i="0">
                <a:solidFill>
                  <a:srgbClr val="646970"/>
                </a:solidFill>
                <a:latin typeface="Arial"/>
              </a:rPr>
              <a:t>03</a:t>
            </a:r>
            <a:endParaRPr/>
          </a:p>
        </p:txBody>
      </p:sp>
      <p:sp>
        <p:nvSpPr>
          <p:cNvPr id="1804046779" name="Rounded Rectangle 6"/>
          <p:cNvSpPr/>
          <p:nvPr/>
        </p:nvSpPr>
        <p:spPr bwMode="auto">
          <a:xfrm>
            <a:off x="685800" y="1325880"/>
            <a:ext cx="5212080" cy="356616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22324019" name="TextBox 7"/>
          <p:cNvSpPr txBox="1"/>
          <p:nvPr/>
        </p:nvSpPr>
        <p:spPr bwMode="auto">
          <a:xfrm>
            <a:off x="960120" y="1600200"/>
            <a:ext cx="466344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000" b="1" i="0">
                <a:solidFill>
                  <a:srgbClr val="BE192D"/>
                </a:solidFill>
                <a:latin typeface="Arial"/>
              </a:rPr>
              <a:t>ENTRADA</a:t>
            </a:r>
            <a:endParaRPr/>
          </a:p>
        </p:txBody>
      </p:sp>
      <p:sp>
        <p:nvSpPr>
          <p:cNvPr id="448204788" name="TextBox 8"/>
          <p:cNvSpPr txBox="1"/>
          <p:nvPr/>
        </p:nvSpPr>
        <p:spPr bwMode="auto">
          <a:xfrm>
            <a:off x="1005840" y="2258568"/>
            <a:ext cx="4572360" cy="11982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700"/>
              </a:spcAft>
              <a:defRPr/>
            </a:pPr>
            <a:r>
              <a:rPr sz="2300" b="1" i="0">
                <a:solidFill>
                  <a:srgbClr val="23262A"/>
                </a:solidFill>
                <a:latin typeface="Arial"/>
              </a:rPr>
              <a:t>Nome, idade, nota, busca, login…</a:t>
            </a:r>
            <a:endParaRPr/>
          </a:p>
        </p:txBody>
      </p:sp>
      <p:sp>
        <p:nvSpPr>
          <p:cNvPr id="1013542246" name="TextBox 9"/>
          <p:cNvSpPr txBox="1"/>
          <p:nvPr/>
        </p:nvSpPr>
        <p:spPr bwMode="auto">
          <a:xfrm>
            <a:off x="914400" y="3977639"/>
            <a:ext cx="47548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1700" b="0" i="0">
                <a:solidFill>
                  <a:srgbClr val="646970"/>
                </a:solidFill>
                <a:latin typeface="Arial"/>
              </a:rPr>
              <a:t>O usuário informa dados</a:t>
            </a:r>
            <a:endParaRPr/>
          </a:p>
        </p:txBody>
      </p:sp>
      <p:sp>
        <p:nvSpPr>
          <p:cNvPr id="1296811449" name="Rounded Rectangle 10"/>
          <p:cNvSpPr/>
          <p:nvPr/>
        </p:nvSpPr>
        <p:spPr bwMode="auto">
          <a:xfrm>
            <a:off x="6309360" y="1325880"/>
            <a:ext cx="5212080" cy="3566160"/>
          </a:xfrm>
          <a:prstGeom prst="roundRect">
            <a:avLst>
              <a:gd name="adj" fmla="val 12000"/>
            </a:avLst>
          </a:prstGeom>
          <a:solidFill>
            <a:srgbClr val="FC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2626308" name="TextBox 11"/>
          <p:cNvSpPr txBox="1"/>
          <p:nvPr/>
        </p:nvSpPr>
        <p:spPr bwMode="auto">
          <a:xfrm>
            <a:off x="6583680" y="1600200"/>
            <a:ext cx="466344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000" b="1" i="0">
                <a:solidFill>
                  <a:srgbClr val="BE192D"/>
                </a:solidFill>
                <a:latin typeface="Arial"/>
              </a:rPr>
              <a:t>PROCESSAMENTO</a:t>
            </a:r>
            <a:endParaRPr/>
          </a:p>
        </p:txBody>
      </p:sp>
      <p:sp>
        <p:nvSpPr>
          <p:cNvPr id="1683860369" name="TextBox 12"/>
          <p:cNvSpPr txBox="1"/>
          <p:nvPr/>
        </p:nvSpPr>
        <p:spPr bwMode="auto">
          <a:xfrm>
            <a:off x="6629400" y="2521457"/>
            <a:ext cx="4572360" cy="672443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700"/>
              </a:spcAft>
              <a:defRPr/>
            </a:pPr>
            <a:r>
              <a:rPr sz="2300" b="1" i="0">
                <a:solidFill>
                  <a:srgbClr val="23262A"/>
                </a:solidFill>
                <a:latin typeface="Arial"/>
              </a:rPr>
              <a:t>PHP recebe, valida e calcula</a:t>
            </a:r>
            <a:endParaRPr/>
          </a:p>
        </p:txBody>
      </p:sp>
      <p:sp>
        <p:nvSpPr>
          <p:cNvPr id="473760698" name="TextBox 13"/>
          <p:cNvSpPr txBox="1"/>
          <p:nvPr/>
        </p:nvSpPr>
        <p:spPr bwMode="auto">
          <a:xfrm>
            <a:off x="6583680" y="3977639"/>
            <a:ext cx="466344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1700" b="0" i="0">
                <a:solidFill>
                  <a:srgbClr val="646970"/>
                </a:solidFill>
                <a:latin typeface="Arial"/>
              </a:rPr>
              <a:t>O servidor devolve uma resposta</a:t>
            </a:r>
            <a:endParaRPr/>
          </a:p>
        </p:txBody>
      </p:sp>
      <p:sp>
        <p:nvSpPr>
          <p:cNvPr id="2118775498" name="TextBox 14"/>
          <p:cNvSpPr txBox="1"/>
          <p:nvPr/>
        </p:nvSpPr>
        <p:spPr bwMode="auto">
          <a:xfrm>
            <a:off x="1005840" y="5303520"/>
            <a:ext cx="1005840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000" b="1" i="0">
                <a:solidFill>
                  <a:srgbClr val="23262A"/>
                </a:solidFill>
                <a:latin typeface="Arial"/>
              </a:rPr>
              <a:t>Exemplo: informar duas notas → PHP calcula a média → exibe o resultado.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191973" name="Rectangle 1"/>
          <p:cNvSpPr/>
          <p:nvPr/>
        </p:nvSpPr>
        <p:spPr bwMode="auto">
          <a:xfrm>
            <a:off x="0" y="0"/>
            <a:ext cx="12191695" cy="1463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8025712" name="TextBox 2"/>
          <p:cNvSpPr txBox="1"/>
          <p:nvPr/>
        </p:nvSpPr>
        <p:spPr bwMode="auto">
          <a:xfrm>
            <a:off x="411480" y="256032"/>
            <a:ext cx="11338560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800" b="1" i="0">
                <a:solidFill>
                  <a:srgbClr val="23262A"/>
                </a:solidFill>
                <a:latin typeface="Arial Black"/>
              </a:rPr>
              <a:t>Como os dados chegam ao PHP?</a:t>
            </a:r>
            <a:endParaRPr/>
          </a:p>
        </p:txBody>
      </p:sp>
      <p:sp>
        <p:nvSpPr>
          <p:cNvPr id="704348511" name="Rectangle 3"/>
          <p:cNvSpPr/>
          <p:nvPr/>
        </p:nvSpPr>
        <p:spPr bwMode="auto">
          <a:xfrm>
            <a:off x="502920" y="932688"/>
            <a:ext cx="11183112" cy="320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1670899" name="TextBox 4"/>
          <p:cNvSpPr txBox="1"/>
          <p:nvPr/>
        </p:nvSpPr>
        <p:spPr bwMode="auto"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900" b="1" i="0">
                <a:solidFill>
                  <a:srgbClr val="646970"/>
                </a:solidFill>
                <a:latin typeface="Arial"/>
              </a:rPr>
              <a:t>PHP • ENTRADA DE DADOS</a:t>
            </a:r>
            <a:endParaRPr/>
          </a:p>
        </p:txBody>
      </p:sp>
      <p:sp>
        <p:nvSpPr>
          <p:cNvPr id="1344233204" name="TextBox 5"/>
          <p:cNvSpPr txBox="1"/>
          <p:nvPr/>
        </p:nvSpPr>
        <p:spPr bwMode="auto">
          <a:xfrm>
            <a:off x="10698480" y="6492240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  <a:spcAft>
                <a:spcPts val="700"/>
              </a:spcAft>
              <a:defRPr/>
            </a:pPr>
            <a:r>
              <a:rPr sz="900" b="0" i="0">
                <a:solidFill>
                  <a:srgbClr val="646970"/>
                </a:solidFill>
                <a:latin typeface="Arial"/>
              </a:rPr>
              <a:t>04</a:t>
            </a:r>
            <a:endParaRPr/>
          </a:p>
        </p:txBody>
      </p:sp>
      <p:sp>
        <p:nvSpPr>
          <p:cNvPr id="2135225457" name="Rounded Rectangle 6"/>
          <p:cNvSpPr/>
          <p:nvPr/>
        </p:nvSpPr>
        <p:spPr bwMode="auto">
          <a:xfrm>
            <a:off x="594360" y="1828800"/>
            <a:ext cx="2423160" cy="242316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8527043" name="Rounded Rectangle 7"/>
          <p:cNvSpPr/>
          <p:nvPr/>
        </p:nvSpPr>
        <p:spPr bwMode="auto">
          <a:xfrm>
            <a:off x="1435608" y="1417320"/>
            <a:ext cx="713232" cy="713232"/>
          </a:xfrm>
          <a:prstGeom prst="roundRect">
            <a:avLst>
              <a:gd name="adj" fmla="val 12000"/>
            </a:avLst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2480624" name="TextBox 8"/>
          <p:cNvSpPr txBox="1"/>
          <p:nvPr/>
        </p:nvSpPr>
        <p:spPr bwMode="auto">
          <a:xfrm>
            <a:off x="1490472" y="1572768"/>
            <a:ext cx="603504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000" b="1" i="0">
                <a:solidFill>
                  <a:srgbClr val="FFFFFF"/>
                </a:solidFill>
                <a:latin typeface="Arial"/>
              </a:rPr>
              <a:t>1</a:t>
            </a:r>
            <a:endParaRPr/>
          </a:p>
        </p:txBody>
      </p:sp>
      <p:sp>
        <p:nvSpPr>
          <p:cNvPr id="1066351258" name="TextBox 9"/>
          <p:cNvSpPr txBox="1"/>
          <p:nvPr/>
        </p:nvSpPr>
        <p:spPr bwMode="auto">
          <a:xfrm>
            <a:off x="731520" y="2423160"/>
            <a:ext cx="214884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000" b="1" i="0">
                <a:solidFill>
                  <a:srgbClr val="23262A"/>
                </a:solidFill>
                <a:latin typeface="Arial"/>
              </a:rPr>
              <a:t>Preencher</a:t>
            </a:r>
            <a:endParaRPr/>
          </a:p>
        </p:txBody>
      </p:sp>
      <p:sp>
        <p:nvSpPr>
          <p:cNvPr id="1600898907" name="TextBox 10"/>
          <p:cNvSpPr txBox="1"/>
          <p:nvPr/>
        </p:nvSpPr>
        <p:spPr bwMode="auto">
          <a:xfrm>
            <a:off x="758952" y="2980286"/>
            <a:ext cx="2104200" cy="1061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lnSpc>
                <a:spcPct val="200000"/>
              </a:lnSpc>
              <a:spcAft>
                <a:spcPts val="700"/>
              </a:spcAft>
              <a:defRPr/>
            </a:pPr>
            <a:r>
              <a:rPr sz="1500" b="0" i="0">
                <a:solidFill>
                  <a:srgbClr val="646970"/>
                </a:solidFill>
                <a:latin typeface="Arial"/>
              </a:rPr>
              <a:t>O usuário informa os campos.</a:t>
            </a:r>
            <a:endParaRPr/>
          </a:p>
        </p:txBody>
      </p:sp>
      <p:sp>
        <p:nvSpPr>
          <p:cNvPr id="732115537" name="TextBox 11"/>
          <p:cNvSpPr txBox="1"/>
          <p:nvPr/>
        </p:nvSpPr>
        <p:spPr bwMode="auto">
          <a:xfrm>
            <a:off x="3081528" y="2606040"/>
            <a:ext cx="36576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200" b="1" i="0">
                <a:solidFill>
                  <a:srgbClr val="BE192D"/>
                </a:solidFill>
                <a:latin typeface="Arial"/>
              </a:rPr>
              <a:t>→</a:t>
            </a:r>
            <a:endParaRPr/>
          </a:p>
        </p:txBody>
      </p:sp>
      <p:sp>
        <p:nvSpPr>
          <p:cNvPr id="12041786" name="Rounded Rectangle 12"/>
          <p:cNvSpPr/>
          <p:nvPr/>
        </p:nvSpPr>
        <p:spPr bwMode="auto">
          <a:xfrm>
            <a:off x="3474720" y="1828800"/>
            <a:ext cx="2423160" cy="2423160"/>
          </a:xfrm>
          <a:prstGeom prst="roundRect">
            <a:avLst>
              <a:gd name="adj" fmla="val 12000"/>
            </a:avLst>
          </a:prstGeom>
          <a:solidFill>
            <a:srgbClr val="FC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9048657" name="Rounded Rectangle 13"/>
          <p:cNvSpPr/>
          <p:nvPr/>
        </p:nvSpPr>
        <p:spPr bwMode="auto">
          <a:xfrm>
            <a:off x="4315968" y="1417320"/>
            <a:ext cx="713232" cy="713232"/>
          </a:xfrm>
          <a:prstGeom prst="roundRect">
            <a:avLst>
              <a:gd name="adj" fmla="val 12000"/>
            </a:avLst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1401495" name="TextBox 14"/>
          <p:cNvSpPr txBox="1"/>
          <p:nvPr/>
        </p:nvSpPr>
        <p:spPr bwMode="auto">
          <a:xfrm>
            <a:off x="4370831" y="1572768"/>
            <a:ext cx="603504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000" b="1" i="0">
                <a:solidFill>
                  <a:srgbClr val="FFFFFF"/>
                </a:solidFill>
                <a:latin typeface="Arial"/>
              </a:rPr>
              <a:t>2</a:t>
            </a:r>
            <a:endParaRPr/>
          </a:p>
        </p:txBody>
      </p:sp>
      <p:sp>
        <p:nvSpPr>
          <p:cNvPr id="709055070" name="TextBox 15"/>
          <p:cNvSpPr txBox="1"/>
          <p:nvPr/>
        </p:nvSpPr>
        <p:spPr bwMode="auto">
          <a:xfrm>
            <a:off x="3611879" y="2423160"/>
            <a:ext cx="214884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000" b="1" i="0">
                <a:solidFill>
                  <a:srgbClr val="23262A"/>
                </a:solidFill>
                <a:latin typeface="Arial"/>
              </a:rPr>
              <a:t>Enviar</a:t>
            </a:r>
            <a:endParaRPr/>
          </a:p>
        </p:txBody>
      </p:sp>
      <p:sp>
        <p:nvSpPr>
          <p:cNvPr id="929671450" name="TextBox 16"/>
          <p:cNvSpPr txBox="1"/>
          <p:nvPr/>
        </p:nvSpPr>
        <p:spPr bwMode="auto">
          <a:xfrm>
            <a:off x="3639312" y="2980286"/>
            <a:ext cx="2104200" cy="1061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lnSpc>
                <a:spcPct val="200000"/>
              </a:lnSpc>
              <a:spcAft>
                <a:spcPts val="700"/>
              </a:spcAft>
              <a:defRPr/>
            </a:pPr>
            <a:r>
              <a:rPr sz="1500" b="0" i="0">
                <a:solidFill>
                  <a:srgbClr val="646970"/>
                </a:solidFill>
                <a:latin typeface="Arial"/>
              </a:rPr>
              <a:t>O navegador faz uma requisição HTTP.</a:t>
            </a:r>
            <a:endParaRPr/>
          </a:p>
        </p:txBody>
      </p:sp>
      <p:sp>
        <p:nvSpPr>
          <p:cNvPr id="993937000" name="TextBox 17"/>
          <p:cNvSpPr txBox="1"/>
          <p:nvPr/>
        </p:nvSpPr>
        <p:spPr bwMode="auto">
          <a:xfrm>
            <a:off x="5961888" y="2606040"/>
            <a:ext cx="36576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200" b="1" i="0">
                <a:solidFill>
                  <a:srgbClr val="BE192D"/>
                </a:solidFill>
                <a:latin typeface="Arial"/>
              </a:rPr>
              <a:t>→</a:t>
            </a:r>
            <a:endParaRPr/>
          </a:p>
        </p:txBody>
      </p:sp>
      <p:sp>
        <p:nvSpPr>
          <p:cNvPr id="249130409" name="Rounded Rectangle 18"/>
          <p:cNvSpPr/>
          <p:nvPr/>
        </p:nvSpPr>
        <p:spPr bwMode="auto">
          <a:xfrm>
            <a:off x="6355080" y="1828800"/>
            <a:ext cx="2423160" cy="242316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7665941" name="Rounded Rectangle 19"/>
          <p:cNvSpPr/>
          <p:nvPr/>
        </p:nvSpPr>
        <p:spPr bwMode="auto">
          <a:xfrm>
            <a:off x="7196328" y="1417320"/>
            <a:ext cx="713232" cy="713232"/>
          </a:xfrm>
          <a:prstGeom prst="roundRect">
            <a:avLst>
              <a:gd name="adj" fmla="val 12000"/>
            </a:avLst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5669502" name="TextBox 20"/>
          <p:cNvSpPr txBox="1"/>
          <p:nvPr/>
        </p:nvSpPr>
        <p:spPr bwMode="auto">
          <a:xfrm>
            <a:off x="7251192" y="1572768"/>
            <a:ext cx="603504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000" b="1" i="0">
                <a:solidFill>
                  <a:srgbClr val="FFFFFF"/>
                </a:solidFill>
                <a:latin typeface="Arial"/>
              </a:rPr>
              <a:t>3</a:t>
            </a:r>
            <a:endParaRPr/>
          </a:p>
        </p:txBody>
      </p:sp>
      <p:sp>
        <p:nvSpPr>
          <p:cNvPr id="890887388" name="TextBox 21"/>
          <p:cNvSpPr txBox="1"/>
          <p:nvPr/>
        </p:nvSpPr>
        <p:spPr bwMode="auto">
          <a:xfrm>
            <a:off x="6492240" y="2423160"/>
            <a:ext cx="214884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000" b="1" i="0">
                <a:solidFill>
                  <a:srgbClr val="23262A"/>
                </a:solidFill>
                <a:latin typeface="Arial"/>
              </a:rPr>
              <a:t>Receber</a:t>
            </a:r>
            <a:endParaRPr/>
          </a:p>
        </p:txBody>
      </p:sp>
      <p:sp>
        <p:nvSpPr>
          <p:cNvPr id="778056283" name="TextBox 22"/>
          <p:cNvSpPr txBox="1"/>
          <p:nvPr/>
        </p:nvSpPr>
        <p:spPr bwMode="auto">
          <a:xfrm>
            <a:off x="6519672" y="2980286"/>
            <a:ext cx="2104200" cy="1061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lnSpc>
                <a:spcPct val="200000"/>
              </a:lnSpc>
              <a:spcAft>
                <a:spcPts val="700"/>
              </a:spcAft>
              <a:defRPr/>
            </a:pPr>
            <a:r>
              <a:rPr sz="1500" b="0" i="0">
                <a:solidFill>
                  <a:srgbClr val="646970"/>
                </a:solidFill>
                <a:latin typeface="Arial"/>
              </a:rPr>
              <a:t>PHP lê os valores enviados.</a:t>
            </a:r>
            <a:endParaRPr/>
          </a:p>
        </p:txBody>
      </p:sp>
      <p:sp>
        <p:nvSpPr>
          <p:cNvPr id="603239315" name="TextBox 23"/>
          <p:cNvSpPr txBox="1"/>
          <p:nvPr/>
        </p:nvSpPr>
        <p:spPr bwMode="auto">
          <a:xfrm>
            <a:off x="8842248" y="2606040"/>
            <a:ext cx="36576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200" b="1" i="0">
                <a:solidFill>
                  <a:srgbClr val="BE192D"/>
                </a:solidFill>
                <a:latin typeface="Arial"/>
              </a:rPr>
              <a:t>→</a:t>
            </a:r>
            <a:endParaRPr/>
          </a:p>
        </p:txBody>
      </p:sp>
      <p:sp>
        <p:nvSpPr>
          <p:cNvPr id="1418450252" name="Rounded Rectangle 24"/>
          <p:cNvSpPr/>
          <p:nvPr/>
        </p:nvSpPr>
        <p:spPr bwMode="auto">
          <a:xfrm>
            <a:off x="9235440" y="1828800"/>
            <a:ext cx="2423160" cy="2423160"/>
          </a:xfrm>
          <a:prstGeom prst="roundRect">
            <a:avLst>
              <a:gd name="adj" fmla="val 12000"/>
            </a:avLst>
          </a:prstGeom>
          <a:solidFill>
            <a:srgbClr val="FC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6481337" name="Rounded Rectangle 25"/>
          <p:cNvSpPr/>
          <p:nvPr/>
        </p:nvSpPr>
        <p:spPr bwMode="auto">
          <a:xfrm>
            <a:off x="10076688" y="1417320"/>
            <a:ext cx="713232" cy="713232"/>
          </a:xfrm>
          <a:prstGeom prst="roundRect">
            <a:avLst>
              <a:gd name="adj" fmla="val 12000"/>
            </a:avLst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0776321" name="TextBox 26"/>
          <p:cNvSpPr txBox="1"/>
          <p:nvPr/>
        </p:nvSpPr>
        <p:spPr bwMode="auto">
          <a:xfrm>
            <a:off x="10131552" y="1572768"/>
            <a:ext cx="603504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000" b="1" i="0">
                <a:solidFill>
                  <a:srgbClr val="FFFFFF"/>
                </a:solidFill>
                <a:latin typeface="Arial"/>
              </a:rPr>
              <a:t>4</a:t>
            </a:r>
            <a:endParaRPr/>
          </a:p>
        </p:txBody>
      </p:sp>
      <p:sp>
        <p:nvSpPr>
          <p:cNvPr id="824850715" name="TextBox 27"/>
          <p:cNvSpPr txBox="1"/>
          <p:nvPr/>
        </p:nvSpPr>
        <p:spPr bwMode="auto">
          <a:xfrm>
            <a:off x="9372600" y="2423160"/>
            <a:ext cx="214884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000" b="1" i="0">
                <a:solidFill>
                  <a:srgbClr val="23262A"/>
                </a:solidFill>
                <a:latin typeface="Arial"/>
              </a:rPr>
              <a:t>Responder</a:t>
            </a:r>
            <a:endParaRPr/>
          </a:p>
        </p:txBody>
      </p:sp>
      <p:sp>
        <p:nvSpPr>
          <p:cNvPr id="258377357" name="TextBox 28"/>
          <p:cNvSpPr txBox="1"/>
          <p:nvPr/>
        </p:nvSpPr>
        <p:spPr bwMode="auto">
          <a:xfrm>
            <a:off x="9400032" y="2980286"/>
            <a:ext cx="2104200" cy="1061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lnSpc>
                <a:spcPct val="200000"/>
              </a:lnSpc>
              <a:spcAft>
                <a:spcPts val="700"/>
              </a:spcAft>
              <a:defRPr/>
            </a:pPr>
            <a:r>
              <a:rPr sz="1500" b="0" i="0">
                <a:solidFill>
                  <a:srgbClr val="646970"/>
                </a:solidFill>
                <a:latin typeface="Arial"/>
              </a:rPr>
              <a:t>PHP processa e gera a resposta.</a:t>
            </a:r>
            <a:endParaRPr/>
          </a:p>
        </p:txBody>
      </p:sp>
      <p:sp>
        <p:nvSpPr>
          <p:cNvPr id="1690739110" name="TextBox 29"/>
          <p:cNvSpPr txBox="1"/>
          <p:nvPr/>
        </p:nvSpPr>
        <p:spPr bwMode="auto">
          <a:xfrm>
            <a:off x="914400" y="4983480"/>
            <a:ext cx="1024128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000" b="1" i="0">
                <a:solidFill>
                  <a:srgbClr val="BE192D"/>
                </a:solidFill>
                <a:latin typeface="Arial"/>
              </a:rPr>
              <a:t>Importante: HTML cria os campos; PHP processa os dados no servidor.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884131" name="Rectangle 1"/>
          <p:cNvSpPr/>
          <p:nvPr/>
        </p:nvSpPr>
        <p:spPr bwMode="auto">
          <a:xfrm>
            <a:off x="0" y="0"/>
            <a:ext cx="12191694" cy="1463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3134771" name="Rectangle 3"/>
          <p:cNvSpPr/>
          <p:nvPr/>
        </p:nvSpPr>
        <p:spPr bwMode="auto">
          <a:xfrm>
            <a:off x="502920" y="932688"/>
            <a:ext cx="11183112" cy="320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3298861" name="TextBox 4"/>
          <p:cNvSpPr txBox="1"/>
          <p:nvPr/>
        </p:nvSpPr>
        <p:spPr bwMode="auto"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900" b="1" i="0">
                <a:solidFill>
                  <a:srgbClr val="646970"/>
                </a:solidFill>
                <a:latin typeface="Arial"/>
              </a:rPr>
              <a:t>PHP • ENTRADA DE DADOS</a:t>
            </a:r>
            <a:endParaRPr/>
          </a:p>
        </p:txBody>
      </p:sp>
      <p:sp>
        <p:nvSpPr>
          <p:cNvPr id="1629359673" name="TextBox 5"/>
          <p:cNvSpPr txBox="1"/>
          <p:nvPr/>
        </p:nvSpPr>
        <p:spPr bwMode="auto">
          <a:xfrm>
            <a:off x="10698480" y="6512079"/>
            <a:ext cx="960840" cy="1622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  <a:spcAft>
                <a:spcPts val="700"/>
              </a:spcAft>
              <a:defRPr/>
            </a:pPr>
            <a:r>
              <a:rPr sz="900" b="0" i="0">
                <a:solidFill>
                  <a:srgbClr val="646970"/>
                </a:solidFill>
                <a:latin typeface="Arial"/>
              </a:rPr>
              <a:t>0</a:t>
            </a:r>
            <a:r>
              <a:rPr lang="pt-BR" sz="900" b="0" i="0">
                <a:solidFill>
                  <a:srgbClr val="646970"/>
                </a:solidFill>
                <a:latin typeface="Arial"/>
              </a:rPr>
              <a:t>5</a:t>
            </a:r>
            <a:endParaRPr/>
          </a:p>
        </p:txBody>
      </p:sp>
      <p:pic>
        <p:nvPicPr>
          <p:cNvPr id="1918023017" name="Imagem 6"/>
          <p:cNvPicPr/>
          <p:nvPr/>
        </p:nvPicPr>
        <p:blipFill rotWithShape="1">
          <a:blip r:embed="rId3"/>
          <a:stretch/>
        </p:blipFill>
        <p:spPr bwMode="auto">
          <a:xfrm>
            <a:off x="3084059" y="0"/>
            <a:ext cx="5456520" cy="68569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9225457" name="Rectangle 1"/>
          <p:cNvSpPr/>
          <p:nvPr/>
        </p:nvSpPr>
        <p:spPr bwMode="auto">
          <a:xfrm>
            <a:off x="0" y="0"/>
            <a:ext cx="12191695" cy="1463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279812" name="TextBox 2"/>
          <p:cNvSpPr txBox="1"/>
          <p:nvPr/>
        </p:nvSpPr>
        <p:spPr bwMode="auto">
          <a:xfrm>
            <a:off x="411480" y="256032"/>
            <a:ext cx="11338560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800" b="1" i="0">
                <a:solidFill>
                  <a:srgbClr val="23262A"/>
                </a:solidFill>
                <a:latin typeface="Arial Black"/>
              </a:rPr>
              <a:t>Primeiro formulário HTML</a:t>
            </a:r>
            <a:endParaRPr/>
          </a:p>
        </p:txBody>
      </p:sp>
      <p:sp>
        <p:nvSpPr>
          <p:cNvPr id="1243910933" name="Rectangle 3"/>
          <p:cNvSpPr/>
          <p:nvPr/>
        </p:nvSpPr>
        <p:spPr bwMode="auto">
          <a:xfrm>
            <a:off x="502920" y="932688"/>
            <a:ext cx="11183112" cy="320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8617734" name="TextBox 4"/>
          <p:cNvSpPr txBox="1"/>
          <p:nvPr/>
        </p:nvSpPr>
        <p:spPr bwMode="auto"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900" b="1" i="0">
                <a:solidFill>
                  <a:srgbClr val="646970"/>
                </a:solidFill>
                <a:latin typeface="Arial"/>
              </a:rPr>
              <a:t>PHP • ENTRADA DE DADOS</a:t>
            </a:r>
            <a:endParaRPr/>
          </a:p>
        </p:txBody>
      </p:sp>
      <p:sp>
        <p:nvSpPr>
          <p:cNvPr id="212064238" name="TextBox 5"/>
          <p:cNvSpPr txBox="1"/>
          <p:nvPr/>
        </p:nvSpPr>
        <p:spPr bwMode="auto">
          <a:xfrm>
            <a:off x="10698480" y="6492240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  <a:spcAft>
                <a:spcPts val="700"/>
              </a:spcAft>
              <a:defRPr/>
            </a:pPr>
            <a:r>
              <a:rPr sz="900" b="0" i="0">
                <a:solidFill>
                  <a:srgbClr val="646970"/>
                </a:solidFill>
                <a:latin typeface="Arial"/>
              </a:rPr>
              <a:t>05</a:t>
            </a:r>
            <a:endParaRPr/>
          </a:p>
        </p:txBody>
      </p:sp>
      <p:sp>
        <p:nvSpPr>
          <p:cNvPr id="749925045" name="Rounded Rectangle 6"/>
          <p:cNvSpPr/>
          <p:nvPr/>
        </p:nvSpPr>
        <p:spPr bwMode="auto">
          <a:xfrm>
            <a:off x="685800" y="1234440"/>
            <a:ext cx="6492240" cy="4526280"/>
          </a:xfrm>
          <a:prstGeom prst="roundRect">
            <a:avLst>
              <a:gd name="adj" fmla="val 12000"/>
            </a:avLst>
          </a:prstGeom>
          <a:solidFill>
            <a:srgbClr val="202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4404955" name="TextBox 7"/>
          <p:cNvSpPr txBox="1"/>
          <p:nvPr/>
        </p:nvSpPr>
        <p:spPr bwMode="auto">
          <a:xfrm>
            <a:off x="850392" y="1353312"/>
            <a:ext cx="6163414" cy="3952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Aft>
                <a:spcPts val="200"/>
              </a:spcAft>
              <a:defRPr/>
            </a:pPr>
            <a:r>
              <a:rPr sz="1600">
                <a:solidFill>
                  <a:srgbClr val="EBEEF2"/>
                </a:solidFill>
                <a:latin typeface="Consolas"/>
              </a:rPr>
              <a:t>&lt;form action="processa.php" method="post"&gt;</a:t>
            </a: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/>
            </a:pPr>
            <a:r>
              <a:rPr sz="1600">
                <a:solidFill>
                  <a:srgbClr val="EBEEF2"/>
                </a:solidFill>
                <a:latin typeface="Consolas"/>
              </a:rPr>
              <a:t>  &lt;label for="nome"&gt;Seu nome:&lt;/label&gt;</a:t>
            </a: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/>
            </a:pPr>
            <a:r>
              <a:rPr sz="1600">
                <a:solidFill>
                  <a:srgbClr val="EBEEF2"/>
                </a:solidFill>
                <a:latin typeface="Consolas"/>
              </a:rPr>
              <a:t>  &lt;input type="text" id="nome" name="nome" required&gt;</a:t>
            </a: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/>
            </a:pP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/>
            </a:pPr>
            <a:r>
              <a:rPr sz="1600">
                <a:solidFill>
                  <a:srgbClr val="EBEEF2"/>
                </a:solidFill>
                <a:latin typeface="Consolas"/>
              </a:rPr>
              <a:t>  &lt;label for="idade"&gt;Sua idade:&lt;/label&gt;</a:t>
            </a: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/>
            </a:pPr>
            <a:r>
              <a:rPr sz="1600">
                <a:solidFill>
                  <a:srgbClr val="EBEEF2"/>
                </a:solidFill>
                <a:latin typeface="Consolas"/>
              </a:rPr>
              <a:t>  &lt;input type="number" id="idade" name="idade" min="1" required&gt;</a:t>
            </a: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/>
            </a:pP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/>
            </a:pPr>
            <a:r>
              <a:rPr sz="1600">
                <a:solidFill>
                  <a:srgbClr val="EBEEF2"/>
                </a:solidFill>
                <a:latin typeface="Consolas"/>
              </a:rPr>
              <a:t>  &lt;button type="submit"&gt;Enviar&lt;/button&gt;</a:t>
            </a: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/>
            </a:pPr>
            <a:r>
              <a:rPr sz="1600">
                <a:solidFill>
                  <a:srgbClr val="EBEEF2"/>
                </a:solidFill>
                <a:latin typeface="Consolas"/>
              </a:rPr>
              <a:t>&lt;/form&gt;</a:t>
            </a:r>
            <a:endParaRPr/>
          </a:p>
        </p:txBody>
      </p:sp>
      <p:sp>
        <p:nvSpPr>
          <p:cNvPr id="1848423932" name="Rounded Rectangle 8"/>
          <p:cNvSpPr/>
          <p:nvPr/>
        </p:nvSpPr>
        <p:spPr bwMode="auto">
          <a:xfrm>
            <a:off x="7543800" y="1417320"/>
            <a:ext cx="3794760" cy="402336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5140559" name="TextBox 9"/>
          <p:cNvSpPr txBox="1"/>
          <p:nvPr/>
        </p:nvSpPr>
        <p:spPr bwMode="auto">
          <a:xfrm>
            <a:off x="7818120" y="1691640"/>
            <a:ext cx="324612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1800" b="1" i="0">
                <a:solidFill>
                  <a:srgbClr val="BE192D"/>
                </a:solidFill>
                <a:latin typeface="Arial"/>
              </a:rPr>
              <a:t>Observe estes atributos</a:t>
            </a:r>
            <a:endParaRPr/>
          </a:p>
        </p:txBody>
      </p:sp>
      <p:sp>
        <p:nvSpPr>
          <p:cNvPr id="1758770359" name="TextBox 10"/>
          <p:cNvSpPr txBox="1"/>
          <p:nvPr/>
        </p:nvSpPr>
        <p:spPr bwMode="auto">
          <a:xfrm flipH="0" flipV="0">
            <a:off x="7818119" y="2222499"/>
            <a:ext cx="3423399" cy="43439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1600" b="0" i="0">
                <a:solidFill>
                  <a:srgbClr val="23262A"/>
                </a:solidFill>
                <a:latin typeface="Arial"/>
              </a:rPr>
              <a:t>action: arquivo que recebe os dados</a:t>
            </a:r>
            <a:endParaRPr/>
          </a:p>
        </p:txBody>
      </p:sp>
      <p:sp>
        <p:nvSpPr>
          <p:cNvPr id="391275031" name="TextBox 11"/>
          <p:cNvSpPr txBox="1"/>
          <p:nvPr/>
        </p:nvSpPr>
        <p:spPr bwMode="auto">
          <a:xfrm>
            <a:off x="7818120" y="2971800"/>
            <a:ext cx="324612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1600" b="0" i="0">
                <a:solidFill>
                  <a:srgbClr val="23262A"/>
                </a:solidFill>
                <a:latin typeface="Arial"/>
              </a:rPr>
              <a:t>method: forma de envio</a:t>
            </a:r>
            <a:endParaRPr/>
          </a:p>
        </p:txBody>
      </p:sp>
      <p:sp>
        <p:nvSpPr>
          <p:cNvPr id="852273893" name="TextBox 12"/>
          <p:cNvSpPr txBox="1"/>
          <p:nvPr/>
        </p:nvSpPr>
        <p:spPr bwMode="auto">
          <a:xfrm>
            <a:off x="7818120" y="3657600"/>
            <a:ext cx="324612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1600" b="0" i="0">
                <a:solidFill>
                  <a:srgbClr val="23262A"/>
                </a:solidFill>
                <a:latin typeface="Arial"/>
              </a:rPr>
              <a:t>name: chave lida pelo PHP</a:t>
            </a:r>
            <a:endParaRPr/>
          </a:p>
        </p:txBody>
      </p:sp>
      <p:sp>
        <p:nvSpPr>
          <p:cNvPr id="1954981104" name="TextBox 13"/>
          <p:cNvSpPr txBox="1"/>
          <p:nvPr/>
        </p:nvSpPr>
        <p:spPr bwMode="auto">
          <a:xfrm>
            <a:off x="7818120" y="4343400"/>
            <a:ext cx="324612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1600" b="0" i="0">
                <a:solidFill>
                  <a:srgbClr val="23262A"/>
                </a:solidFill>
                <a:latin typeface="Arial"/>
              </a:rPr>
              <a:t>required: campo obrigatório</a:t>
            </a:r>
            <a:endParaRPr/>
          </a:p>
        </p:txBody>
      </p:sp>
      <p:sp>
        <p:nvSpPr>
          <p:cNvPr id="298929760" name="TextBox 14"/>
          <p:cNvSpPr txBox="1"/>
          <p:nvPr/>
        </p:nvSpPr>
        <p:spPr bwMode="auto">
          <a:xfrm>
            <a:off x="822960" y="5897880"/>
            <a:ext cx="10789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1600" b="1" i="0">
                <a:solidFill>
                  <a:srgbClr val="BE192D"/>
                </a:solidFill>
                <a:latin typeface="Arial"/>
              </a:rPr>
              <a:t>Atenção: o PHP usa o atributo name, não o id, para localizar o valor enviado.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278006" name="Rectangle 1"/>
          <p:cNvSpPr/>
          <p:nvPr/>
        </p:nvSpPr>
        <p:spPr bwMode="auto">
          <a:xfrm>
            <a:off x="0" y="0"/>
            <a:ext cx="12191695" cy="1463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5581505" name="TextBox 2"/>
          <p:cNvSpPr txBox="1"/>
          <p:nvPr/>
        </p:nvSpPr>
        <p:spPr bwMode="auto">
          <a:xfrm>
            <a:off x="411480" y="256032"/>
            <a:ext cx="11338560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800" b="1" i="0">
                <a:solidFill>
                  <a:srgbClr val="23262A"/>
                </a:solidFill>
                <a:latin typeface="Arial Black"/>
              </a:rPr>
              <a:t>Método GET: dados na URL</a:t>
            </a:r>
            <a:endParaRPr/>
          </a:p>
        </p:txBody>
      </p:sp>
      <p:sp>
        <p:nvSpPr>
          <p:cNvPr id="1306175552" name="Rectangle 3"/>
          <p:cNvSpPr/>
          <p:nvPr/>
        </p:nvSpPr>
        <p:spPr bwMode="auto">
          <a:xfrm>
            <a:off x="502920" y="932688"/>
            <a:ext cx="11183112" cy="320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4676262" name="TextBox 4"/>
          <p:cNvSpPr txBox="1"/>
          <p:nvPr/>
        </p:nvSpPr>
        <p:spPr bwMode="auto"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900" b="1" i="0">
                <a:solidFill>
                  <a:srgbClr val="646970"/>
                </a:solidFill>
                <a:latin typeface="Arial"/>
              </a:rPr>
              <a:t>PHP • ENTRADA DE DADOS</a:t>
            </a:r>
            <a:endParaRPr/>
          </a:p>
        </p:txBody>
      </p:sp>
      <p:sp>
        <p:nvSpPr>
          <p:cNvPr id="832722547" name="TextBox 5"/>
          <p:cNvSpPr txBox="1"/>
          <p:nvPr/>
        </p:nvSpPr>
        <p:spPr bwMode="auto">
          <a:xfrm>
            <a:off x="10698480" y="6492240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  <a:spcAft>
                <a:spcPts val="700"/>
              </a:spcAft>
              <a:defRPr/>
            </a:pPr>
            <a:r>
              <a:rPr sz="900" b="0" i="0">
                <a:solidFill>
                  <a:srgbClr val="646970"/>
                </a:solidFill>
                <a:latin typeface="Arial"/>
              </a:rPr>
              <a:t>06</a:t>
            </a:r>
            <a:endParaRPr/>
          </a:p>
        </p:txBody>
      </p:sp>
      <p:sp>
        <p:nvSpPr>
          <p:cNvPr id="1392382744" name="TextBox 6"/>
          <p:cNvSpPr txBox="1"/>
          <p:nvPr/>
        </p:nvSpPr>
        <p:spPr bwMode="auto">
          <a:xfrm>
            <a:off x="731520" y="1234440"/>
            <a:ext cx="1078992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1900" b="0" i="0">
                <a:solidFill>
                  <a:srgbClr val="23262A"/>
                </a:solidFill>
                <a:latin typeface="Arial"/>
              </a:rPr>
              <a:t>Use quando os dados podem aparecer na URL, como em pesquisas e filtros.</a:t>
            </a:r>
            <a:endParaRPr/>
          </a:p>
        </p:txBody>
      </p:sp>
      <p:sp>
        <p:nvSpPr>
          <p:cNvPr id="2136951156" name="Rounded Rectangle 7"/>
          <p:cNvSpPr/>
          <p:nvPr/>
        </p:nvSpPr>
        <p:spPr bwMode="auto">
          <a:xfrm>
            <a:off x="731520" y="1828800"/>
            <a:ext cx="5257800" cy="2423160"/>
          </a:xfrm>
          <a:prstGeom prst="roundRect">
            <a:avLst>
              <a:gd name="adj" fmla="val 12000"/>
            </a:avLst>
          </a:prstGeom>
          <a:solidFill>
            <a:srgbClr val="202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4039217" name="TextBox 8"/>
          <p:cNvSpPr txBox="1"/>
          <p:nvPr/>
        </p:nvSpPr>
        <p:spPr bwMode="auto">
          <a:xfrm>
            <a:off x="896112" y="1947671"/>
            <a:ext cx="4928976" cy="1905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200000"/>
              </a:lnSpc>
              <a:spcAft>
                <a:spcPts val="200"/>
              </a:spcAft>
              <a:defRPr/>
            </a:pPr>
            <a:r>
              <a:rPr sz="1500">
                <a:solidFill>
                  <a:srgbClr val="EBEEF2"/>
                </a:solidFill>
                <a:latin typeface="Consolas"/>
              </a:rPr>
              <a:t>&lt;form action="buscar.php" method="get"&gt;</a:t>
            </a:r>
            <a:endParaRPr/>
          </a:p>
          <a:p>
            <a:pPr>
              <a:lnSpc>
                <a:spcPct val="200000"/>
              </a:lnSpc>
              <a:spcAft>
                <a:spcPts val="200"/>
              </a:spcAft>
              <a:defRPr/>
            </a:pPr>
            <a:r>
              <a:rPr sz="1500">
                <a:solidFill>
                  <a:srgbClr val="EBEEF2"/>
                </a:solidFill>
                <a:latin typeface="Consolas"/>
              </a:rPr>
              <a:t>  &lt;input name="termo" type="text"&gt;</a:t>
            </a:r>
            <a:endParaRPr/>
          </a:p>
          <a:p>
            <a:pPr>
              <a:lnSpc>
                <a:spcPct val="200000"/>
              </a:lnSpc>
              <a:spcAft>
                <a:spcPts val="200"/>
              </a:spcAft>
              <a:defRPr/>
            </a:pPr>
            <a:r>
              <a:rPr sz="1500">
                <a:solidFill>
                  <a:srgbClr val="EBEEF2"/>
                </a:solidFill>
                <a:latin typeface="Consolas"/>
              </a:rPr>
              <a:t>  &lt;button&gt;Buscar&lt;/button&gt;</a:t>
            </a:r>
            <a:endParaRPr/>
          </a:p>
          <a:p>
            <a:pPr>
              <a:lnSpc>
                <a:spcPct val="200000"/>
              </a:lnSpc>
              <a:spcAft>
                <a:spcPts val="200"/>
              </a:spcAft>
              <a:defRPr/>
            </a:pPr>
            <a:r>
              <a:rPr sz="1500">
                <a:solidFill>
                  <a:srgbClr val="EBEEF2"/>
                </a:solidFill>
                <a:latin typeface="Consolas"/>
              </a:rPr>
              <a:t>&lt;/form&gt;</a:t>
            </a:r>
            <a:endParaRPr/>
          </a:p>
        </p:txBody>
      </p:sp>
      <p:sp>
        <p:nvSpPr>
          <p:cNvPr id="590525907" name="Rounded Rectangle 9"/>
          <p:cNvSpPr/>
          <p:nvPr/>
        </p:nvSpPr>
        <p:spPr bwMode="auto">
          <a:xfrm>
            <a:off x="6263640" y="1828800"/>
            <a:ext cx="5166360" cy="2423160"/>
          </a:xfrm>
          <a:prstGeom prst="roundRect">
            <a:avLst>
              <a:gd name="adj" fmla="val 12000"/>
            </a:avLst>
          </a:prstGeom>
          <a:solidFill>
            <a:srgbClr val="202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9534135" name="TextBox 10"/>
          <p:cNvSpPr txBox="1"/>
          <p:nvPr/>
        </p:nvSpPr>
        <p:spPr bwMode="auto">
          <a:xfrm>
            <a:off x="6428230" y="1947671"/>
            <a:ext cx="4837536" cy="1905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200000"/>
              </a:lnSpc>
              <a:spcAft>
                <a:spcPts val="200"/>
              </a:spcAft>
              <a:defRPr/>
            </a:pPr>
            <a:r>
              <a:rPr sz="1500">
                <a:solidFill>
                  <a:srgbClr val="EBEEF2"/>
                </a:solidFill>
                <a:latin typeface="Consolas"/>
              </a:rPr>
              <a:t>&lt;?php</a:t>
            </a:r>
            <a:endParaRPr/>
          </a:p>
          <a:p>
            <a:pPr>
              <a:lnSpc>
                <a:spcPct val="200000"/>
              </a:lnSpc>
              <a:spcAft>
                <a:spcPts val="200"/>
              </a:spcAft>
              <a:defRPr/>
            </a:pPr>
            <a:r>
              <a:rPr sz="1500">
                <a:solidFill>
                  <a:srgbClr val="EBEEF2"/>
                </a:solidFill>
                <a:latin typeface="Consolas"/>
              </a:rPr>
              <a:t>$termo = $_GET['termo'] ?? '';</a:t>
            </a:r>
            <a:endParaRPr/>
          </a:p>
          <a:p>
            <a:pPr>
              <a:lnSpc>
                <a:spcPct val="200000"/>
              </a:lnSpc>
              <a:spcAft>
                <a:spcPts val="200"/>
              </a:spcAft>
              <a:defRPr/>
            </a:pPr>
            <a:r>
              <a:rPr sz="1500">
                <a:solidFill>
                  <a:srgbClr val="EBEEF2"/>
                </a:solidFill>
                <a:latin typeface="Consolas"/>
              </a:rPr>
              <a:t>echo "Busca: " . htmlspecialchars($termo);</a:t>
            </a:r>
            <a:endParaRPr/>
          </a:p>
          <a:p>
            <a:pPr>
              <a:lnSpc>
                <a:spcPct val="200000"/>
              </a:lnSpc>
              <a:spcAft>
                <a:spcPts val="200"/>
              </a:spcAft>
              <a:defRPr/>
            </a:pPr>
            <a:r>
              <a:rPr sz="1500">
                <a:solidFill>
                  <a:srgbClr val="EBEEF2"/>
                </a:solidFill>
                <a:latin typeface="Consolas"/>
              </a:rPr>
              <a:t>?&gt;</a:t>
            </a:r>
            <a:endParaRPr/>
          </a:p>
        </p:txBody>
      </p:sp>
      <p:sp>
        <p:nvSpPr>
          <p:cNvPr id="1865228984" name="Rounded Rectangle 11"/>
          <p:cNvSpPr/>
          <p:nvPr/>
        </p:nvSpPr>
        <p:spPr bwMode="auto">
          <a:xfrm>
            <a:off x="914400" y="4617720"/>
            <a:ext cx="10332720" cy="777240"/>
          </a:xfrm>
          <a:prstGeom prst="roundRect">
            <a:avLst>
              <a:gd name="adj" fmla="val 12000"/>
            </a:avLst>
          </a:prstGeom>
          <a:solidFill>
            <a:srgbClr val="FC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6781569" name="TextBox 12"/>
          <p:cNvSpPr txBox="1"/>
          <p:nvPr/>
        </p:nvSpPr>
        <p:spPr bwMode="auto">
          <a:xfrm>
            <a:off x="1143000" y="4782312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000" b="1" i="0">
                <a:solidFill>
                  <a:srgbClr val="BE192D"/>
                </a:solidFill>
                <a:latin typeface="Arial"/>
              </a:rPr>
              <a:t>Exemplo de URL: buscar.php?termo=PHP</a:t>
            </a:r>
            <a:endParaRPr/>
          </a:p>
        </p:txBody>
      </p:sp>
      <p:sp>
        <p:nvSpPr>
          <p:cNvPr id="1663797044" name="TextBox 13"/>
          <p:cNvSpPr txBox="1"/>
          <p:nvPr/>
        </p:nvSpPr>
        <p:spPr bwMode="auto">
          <a:xfrm>
            <a:off x="914400" y="5623560"/>
            <a:ext cx="1033272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1800" b="1" i="0">
                <a:solidFill>
                  <a:srgbClr val="23262A"/>
                </a:solidFill>
                <a:latin typeface="Arial"/>
              </a:rPr>
              <a:t>Não envie senhas ou informações sensíveis por GET.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734183" name="Rectangle 1"/>
          <p:cNvSpPr/>
          <p:nvPr/>
        </p:nvSpPr>
        <p:spPr bwMode="auto">
          <a:xfrm>
            <a:off x="0" y="0"/>
            <a:ext cx="12191694" cy="1463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32101363" name="TextBox 2"/>
          <p:cNvSpPr txBox="1"/>
          <p:nvPr/>
        </p:nvSpPr>
        <p:spPr bwMode="auto">
          <a:xfrm>
            <a:off x="411480" y="256032"/>
            <a:ext cx="11338559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800" b="1" i="0">
                <a:solidFill>
                  <a:srgbClr val="23262A"/>
                </a:solidFill>
                <a:latin typeface="Arial Black"/>
              </a:rPr>
              <a:t>Método GET: dados na URL</a:t>
            </a:r>
            <a:endParaRPr/>
          </a:p>
        </p:txBody>
      </p:sp>
      <p:sp>
        <p:nvSpPr>
          <p:cNvPr id="1371747285" name="TextBox 4"/>
          <p:cNvSpPr txBox="1"/>
          <p:nvPr/>
        </p:nvSpPr>
        <p:spPr bwMode="auto"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900" b="1" i="0">
                <a:solidFill>
                  <a:srgbClr val="646970"/>
                </a:solidFill>
                <a:latin typeface="Arial"/>
              </a:rPr>
              <a:t>PHP • ENTRADA DE DADOS</a:t>
            </a:r>
            <a:endParaRPr/>
          </a:p>
        </p:txBody>
      </p:sp>
      <p:sp>
        <p:nvSpPr>
          <p:cNvPr id="200884566" name="TextBox 5"/>
          <p:cNvSpPr txBox="1"/>
          <p:nvPr/>
        </p:nvSpPr>
        <p:spPr bwMode="auto">
          <a:xfrm>
            <a:off x="10698480" y="6492240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  <a:spcAft>
                <a:spcPts val="700"/>
              </a:spcAft>
              <a:defRPr/>
            </a:pPr>
            <a:r>
              <a:rPr sz="900" b="0" i="0">
                <a:solidFill>
                  <a:srgbClr val="646970"/>
                </a:solidFill>
                <a:latin typeface="Arial"/>
              </a:rPr>
              <a:t>06</a:t>
            </a:r>
            <a:endParaRPr/>
          </a:p>
        </p:txBody>
      </p:sp>
      <p:sp>
        <p:nvSpPr>
          <p:cNvPr id="1183935493" name="Google Shape;1976;p222"/>
          <p:cNvSpPr/>
          <p:nvPr/>
        </p:nvSpPr>
        <p:spPr bwMode="auto">
          <a:xfrm>
            <a:off x="6964560" y="3119760"/>
            <a:ext cx="1118520" cy="7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22040" anchor="t">
            <a:noAutofit/>
          </a:bodyPr>
          <a:p>
            <a:pPr>
              <a:lnSpc>
                <a:spcPct val="100000"/>
              </a:lnSpc>
              <a:defRPr/>
            </a:pPr>
            <a:r>
              <a:rPr lang="pt-BR" sz="2150" b="0" u="none" strike="noStrike">
                <a:solidFill>
                  <a:srgbClr val="6AA84F"/>
                </a:solidFill>
                <a:latin typeface="Arial"/>
                <a:ea typeface="Arial"/>
              </a:rPr>
              <a:t>campo</a:t>
            </a:r>
            <a:endParaRPr lang="pt-BR" sz="21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0290271" name="PlaceHolder 2"/>
          <p:cNvSpPr>
            <a:spLocks noGrp="1"/>
          </p:cNvSpPr>
          <p:nvPr/>
        </p:nvSpPr>
        <p:spPr bwMode="auto">
          <a:xfrm>
            <a:off x="415438" y="1536480"/>
            <a:ext cx="11358720" cy="761400"/>
          </a:xfrm>
          <a:prstGeom prst="rect">
            <a:avLst/>
          </a:prstGeom>
          <a:noFill/>
          <a:ln w="0">
            <a:noFill/>
          </a:ln>
        </p:spPr>
        <p:txBody>
          <a:bodyPr vert="horz" lIns="122040" tIns="122040" rIns="122040" bIns="122040" rtlCol="0" anchor="t">
            <a:noAutofit/>
          </a:bodyPr>
          <a:lstStyle>
            <a:lvl1pPr marL="342900" indent="-342900" algn="l" defTabSz="457200" rtl="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4572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>
              <a:lnSpc>
                <a:spcPct val="114999"/>
              </a:lnSpc>
              <a:spcBef>
                <a:spcPts val="1417"/>
              </a:spcBef>
              <a:spcAft>
                <a:spcPts val="2132"/>
              </a:spcAft>
              <a:buNone/>
              <a:tabLst>
                <a:tab pos="0" algn="l"/>
              </a:tabLst>
              <a:defRPr/>
            </a:pPr>
            <a:r>
              <a:rPr lang="pt-BR" sz="2950" b="1" u="none" strike="noStrike">
                <a:solidFill>
                  <a:srgbClr val="000000"/>
                </a:solidFill>
                <a:latin typeface="Arial"/>
                <a:ea typeface="Arial"/>
              </a:rPr>
              <a:t>http://localhost/curso/get/index.php</a:t>
            </a:r>
            <a:r>
              <a:rPr lang="pt-BR" sz="2950" b="1" u="none" strike="noStrike">
                <a:solidFill>
                  <a:srgbClr val="FF0000"/>
                </a:solidFill>
                <a:latin typeface="Arial"/>
                <a:ea typeface="Arial"/>
              </a:rPr>
              <a:t>?</a:t>
            </a:r>
            <a:r>
              <a:rPr lang="pt-BR" sz="2950" b="1" u="none" strike="noStrike">
                <a:solidFill>
                  <a:srgbClr val="6AA84F"/>
                </a:solidFill>
                <a:latin typeface="Arial"/>
                <a:ea typeface="Arial"/>
              </a:rPr>
              <a:t>nome</a:t>
            </a:r>
            <a:r>
              <a:rPr lang="pt-BR" sz="2950" b="1" u="none" strike="noStrike">
                <a:solidFill>
                  <a:srgbClr val="1155CC"/>
                </a:solidFill>
                <a:latin typeface="Arial"/>
                <a:ea typeface="Arial"/>
              </a:rPr>
              <a:t>=</a:t>
            </a:r>
            <a:r>
              <a:rPr lang="pt-BR" sz="2950" b="1" u="none" strike="noStrike">
                <a:solidFill>
                  <a:srgbClr val="BF9000"/>
                </a:solidFill>
                <a:latin typeface="Arial"/>
                <a:ea typeface="Arial"/>
              </a:rPr>
              <a:t>Maria</a:t>
            </a:r>
            <a:r>
              <a:rPr lang="pt-BR" sz="2950" b="1" u="none" strike="noStrike">
                <a:solidFill>
                  <a:srgbClr val="FF00FF"/>
                </a:solidFill>
                <a:latin typeface="Arial"/>
                <a:ea typeface="Arial"/>
              </a:rPr>
              <a:t>&amp;</a:t>
            </a:r>
            <a:r>
              <a:rPr lang="pt-BR" sz="2950" b="1" u="none" strike="noStrike">
                <a:solidFill>
                  <a:srgbClr val="6AA84F"/>
                </a:solidFill>
                <a:latin typeface="Arial"/>
                <a:ea typeface="Arial"/>
              </a:rPr>
              <a:t>idade</a:t>
            </a:r>
            <a:r>
              <a:rPr lang="pt-BR" sz="2950" b="1" u="none" strike="noStrike">
                <a:solidFill>
                  <a:srgbClr val="1155CC"/>
                </a:solidFill>
                <a:latin typeface="Arial"/>
                <a:ea typeface="Arial"/>
              </a:rPr>
              <a:t>=</a:t>
            </a:r>
            <a:r>
              <a:rPr lang="pt-BR" sz="2950" b="1" u="none" strike="noStrike">
                <a:solidFill>
                  <a:srgbClr val="BF9000"/>
                </a:solidFill>
                <a:latin typeface="Arial"/>
                <a:ea typeface="Arial"/>
              </a:rPr>
              <a:t>33</a:t>
            </a:r>
            <a:endParaRPr lang="pt-BR" sz="2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4443769" name="Google Shape;1979;p222"/>
          <p:cNvSpPr/>
          <p:nvPr/>
        </p:nvSpPr>
        <p:spPr bwMode="auto">
          <a:xfrm>
            <a:off x="4785480" y="4831920"/>
            <a:ext cx="4530600" cy="7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22040" anchor="t">
            <a:noAutofit/>
          </a:bodyPr>
          <a:p>
            <a:pPr>
              <a:lnSpc>
                <a:spcPct val="100000"/>
              </a:lnSpc>
              <a:defRPr/>
            </a:pPr>
            <a:r>
              <a:rPr lang="pt-BR" sz="2150" b="0" u="none" strike="noStrike">
                <a:solidFill>
                  <a:srgbClr val="FF0000"/>
                </a:solidFill>
                <a:latin typeface="Arial"/>
                <a:ea typeface="Arial"/>
              </a:rPr>
              <a:t>Separador de URL e Query String</a:t>
            </a:r>
            <a:endParaRPr lang="pt-BR" sz="21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6938980" name="Google Shape;1980;p222"/>
          <p:cNvSpPr/>
          <p:nvPr/>
        </p:nvSpPr>
        <p:spPr bwMode="auto">
          <a:xfrm flipH="0" flipV="0">
            <a:off x="1194840" y="3067920"/>
            <a:ext cx="952758" cy="7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22040" anchor="t">
            <a:noAutofit/>
          </a:bodyPr>
          <a:p>
            <a:pPr>
              <a:lnSpc>
                <a:spcPct val="100000"/>
              </a:lnSpc>
              <a:defRPr/>
            </a:pPr>
            <a:r>
              <a:rPr lang="pt-BR" sz="2150" b="0" u="none" strike="noStrike">
                <a:solidFill>
                  <a:srgbClr val="000000"/>
                </a:solidFill>
                <a:latin typeface="Arial"/>
                <a:ea typeface="Arial"/>
              </a:rPr>
              <a:t>URL</a:t>
            </a:r>
            <a:endParaRPr lang="pt-BR" sz="21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638792" name="Google Shape;1981;p222"/>
          <p:cNvSpPr/>
          <p:nvPr/>
        </p:nvSpPr>
        <p:spPr bwMode="auto">
          <a:xfrm>
            <a:off x="8350560" y="3119760"/>
            <a:ext cx="865800" cy="7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22040" anchor="t">
            <a:noAutofit/>
          </a:bodyPr>
          <a:p>
            <a:pPr>
              <a:lnSpc>
                <a:spcPct val="100000"/>
              </a:lnSpc>
              <a:defRPr/>
            </a:pPr>
            <a:r>
              <a:rPr lang="pt-BR" sz="2150" b="0" u="none" strike="noStrike">
                <a:solidFill>
                  <a:srgbClr val="BF9000"/>
                </a:solidFill>
                <a:latin typeface="Arial"/>
                <a:ea typeface="Arial"/>
              </a:rPr>
              <a:t>valor</a:t>
            </a:r>
            <a:endParaRPr lang="pt-BR" sz="21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539142" name="Google Shape;1982;p222"/>
          <p:cNvSpPr/>
          <p:nvPr/>
        </p:nvSpPr>
        <p:spPr bwMode="auto">
          <a:xfrm>
            <a:off x="8867160" y="3912840"/>
            <a:ext cx="2160000" cy="7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22040" anchor="t">
            <a:noAutofit/>
          </a:bodyPr>
          <a:p>
            <a:pPr algn="ctr">
              <a:lnSpc>
                <a:spcPct val="100000"/>
              </a:lnSpc>
              <a:defRPr/>
            </a:pPr>
            <a:r>
              <a:rPr lang="pt-BR" sz="2150" b="0" u="none" strike="noStrike">
                <a:solidFill>
                  <a:srgbClr val="FF00FF"/>
                </a:solidFill>
                <a:latin typeface="Arial"/>
                <a:ea typeface="Arial"/>
              </a:rPr>
              <a:t>separador de campos</a:t>
            </a:r>
            <a:endParaRPr lang="pt-BR" sz="215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93740954" name="Google Shape;1983;p222"/>
          <p:cNvCxnSpPr/>
          <p:nvPr/>
        </p:nvCxnSpPr>
        <p:spPr bwMode="auto">
          <a:xfrm flipV="1">
            <a:off x="1589758" y="2105640"/>
            <a:ext cx="2160" cy="96408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type="triangle" w="med" len="med"/>
          </a:ln>
        </p:spPr>
      </p:cxnSp>
      <p:cxnSp>
        <p:nvCxnSpPr>
          <p:cNvPr id="1397541227" name="Google Shape;1984;p222"/>
          <p:cNvCxnSpPr/>
          <p:nvPr/>
        </p:nvCxnSpPr>
        <p:spPr bwMode="auto">
          <a:xfrm flipV="1">
            <a:off x="6951960" y="2093758"/>
            <a:ext cx="2160" cy="259920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type="triangle" w="med" len="med"/>
          </a:ln>
        </p:spPr>
      </p:cxnSp>
      <p:cxnSp>
        <p:nvCxnSpPr>
          <p:cNvPr id="124738335" name="Google Shape;1985;p222"/>
          <p:cNvCxnSpPr/>
          <p:nvPr/>
        </p:nvCxnSpPr>
        <p:spPr bwMode="auto">
          <a:xfrm flipV="1">
            <a:off x="7524000" y="2086920"/>
            <a:ext cx="2880" cy="103320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type="triangle" w="med" len="med"/>
          </a:ln>
        </p:spPr>
      </p:cxnSp>
      <p:cxnSp>
        <p:nvCxnSpPr>
          <p:cNvPr id="2131052150" name="Google Shape;1986;p222"/>
          <p:cNvCxnSpPr/>
          <p:nvPr/>
        </p:nvCxnSpPr>
        <p:spPr bwMode="auto">
          <a:xfrm flipV="1">
            <a:off x="8744040" y="2086920"/>
            <a:ext cx="2160" cy="103464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type="triangle" w="med" len="med"/>
          </a:ln>
        </p:spPr>
      </p:cxnSp>
      <p:cxnSp>
        <p:nvCxnSpPr>
          <p:cNvPr id="1893456018" name="Google Shape;1987;p222"/>
          <p:cNvCxnSpPr/>
          <p:nvPr/>
        </p:nvCxnSpPr>
        <p:spPr bwMode="auto">
          <a:xfrm flipV="1">
            <a:off x="9400680" y="2086560"/>
            <a:ext cx="2160" cy="182520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type="triangle" w="med" len="med"/>
          </a:ln>
        </p:spPr>
      </p:cxnSp>
      <p:sp>
        <p:nvSpPr>
          <p:cNvPr id="243623455" name="Google Shape;1988;p222"/>
          <p:cNvSpPr/>
          <p:nvPr/>
        </p:nvSpPr>
        <p:spPr bwMode="auto">
          <a:xfrm>
            <a:off x="7394760" y="3912840"/>
            <a:ext cx="1531440" cy="7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22040" anchor="t">
            <a:noAutofit/>
          </a:bodyPr>
          <a:p>
            <a:pPr algn="ctr">
              <a:lnSpc>
                <a:spcPct val="100000"/>
              </a:lnSpc>
              <a:defRPr/>
            </a:pPr>
            <a:r>
              <a:rPr lang="pt-BR" sz="2150" b="0" u="none" strike="noStrike">
                <a:solidFill>
                  <a:srgbClr val="1155CC"/>
                </a:solidFill>
                <a:latin typeface="Arial"/>
                <a:ea typeface="Arial"/>
              </a:rPr>
              <a:t>atribuição de valor</a:t>
            </a:r>
            <a:endParaRPr lang="pt-BR" sz="215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74864120" name="Google Shape;1989;p222"/>
          <p:cNvCxnSpPr/>
          <p:nvPr/>
        </p:nvCxnSpPr>
        <p:spPr bwMode="auto">
          <a:xfrm flipV="1">
            <a:off x="8160480" y="2091960"/>
            <a:ext cx="2520" cy="182124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2591533" name="Rectangle 1"/>
          <p:cNvSpPr/>
          <p:nvPr/>
        </p:nvSpPr>
        <p:spPr bwMode="auto">
          <a:xfrm>
            <a:off x="0" y="0"/>
            <a:ext cx="12191695" cy="1463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6382971" name="TextBox 2"/>
          <p:cNvSpPr txBox="1"/>
          <p:nvPr/>
        </p:nvSpPr>
        <p:spPr bwMode="auto">
          <a:xfrm>
            <a:off x="411480" y="256032"/>
            <a:ext cx="11338560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800" b="1" i="0">
                <a:solidFill>
                  <a:srgbClr val="23262A"/>
                </a:solidFill>
                <a:latin typeface="Arial Black"/>
              </a:rPr>
              <a:t>Método POST: dados no corpo da requisição</a:t>
            </a:r>
            <a:endParaRPr/>
          </a:p>
        </p:txBody>
      </p:sp>
      <p:sp>
        <p:nvSpPr>
          <p:cNvPr id="1354027016" name="Rectangle 3"/>
          <p:cNvSpPr/>
          <p:nvPr/>
        </p:nvSpPr>
        <p:spPr bwMode="auto">
          <a:xfrm>
            <a:off x="502920" y="932688"/>
            <a:ext cx="11183112" cy="320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1326350" name="TextBox 4"/>
          <p:cNvSpPr txBox="1"/>
          <p:nvPr/>
        </p:nvSpPr>
        <p:spPr bwMode="auto"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900" b="1" i="0">
                <a:solidFill>
                  <a:srgbClr val="646970"/>
                </a:solidFill>
                <a:latin typeface="Arial"/>
              </a:rPr>
              <a:t>PHP • ENTRADA DE DADOS</a:t>
            </a:r>
            <a:endParaRPr/>
          </a:p>
        </p:txBody>
      </p:sp>
      <p:sp>
        <p:nvSpPr>
          <p:cNvPr id="1136768778" name="TextBox 5"/>
          <p:cNvSpPr txBox="1"/>
          <p:nvPr/>
        </p:nvSpPr>
        <p:spPr bwMode="auto">
          <a:xfrm>
            <a:off x="10698480" y="6492240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  <a:spcAft>
                <a:spcPts val="700"/>
              </a:spcAft>
              <a:defRPr/>
            </a:pPr>
            <a:r>
              <a:rPr sz="900" b="0" i="0">
                <a:solidFill>
                  <a:srgbClr val="646970"/>
                </a:solidFill>
                <a:latin typeface="Arial"/>
              </a:rPr>
              <a:t>07</a:t>
            </a:r>
            <a:endParaRPr/>
          </a:p>
        </p:txBody>
      </p:sp>
      <p:sp>
        <p:nvSpPr>
          <p:cNvPr id="1097271308" name="TextBox 6"/>
          <p:cNvSpPr txBox="1"/>
          <p:nvPr/>
        </p:nvSpPr>
        <p:spPr bwMode="auto">
          <a:xfrm>
            <a:off x="731520" y="1234440"/>
            <a:ext cx="1078992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1900" b="0" i="0">
                <a:solidFill>
                  <a:srgbClr val="23262A"/>
                </a:solidFill>
                <a:latin typeface="Arial"/>
              </a:rPr>
              <a:t>Use para formulários que enviam dados para processamento, cadastro ou atualização.</a:t>
            </a:r>
            <a:endParaRPr/>
          </a:p>
        </p:txBody>
      </p:sp>
      <p:sp>
        <p:nvSpPr>
          <p:cNvPr id="401279944" name="Rounded Rectangle 7"/>
          <p:cNvSpPr/>
          <p:nvPr/>
        </p:nvSpPr>
        <p:spPr bwMode="auto">
          <a:xfrm>
            <a:off x="731520" y="1828800"/>
            <a:ext cx="5257800" cy="2880360"/>
          </a:xfrm>
          <a:prstGeom prst="roundRect">
            <a:avLst>
              <a:gd name="adj" fmla="val 12000"/>
            </a:avLst>
          </a:prstGeom>
          <a:solidFill>
            <a:srgbClr val="202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3084143" name="TextBox 8"/>
          <p:cNvSpPr txBox="1"/>
          <p:nvPr/>
        </p:nvSpPr>
        <p:spPr bwMode="auto">
          <a:xfrm>
            <a:off x="896112" y="1947671"/>
            <a:ext cx="4929695" cy="1905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200000"/>
              </a:lnSpc>
              <a:spcAft>
                <a:spcPts val="200"/>
              </a:spcAft>
              <a:defRPr/>
            </a:pPr>
            <a:r>
              <a:rPr sz="1500">
                <a:solidFill>
                  <a:srgbClr val="EBEEF2"/>
                </a:solidFill>
                <a:latin typeface="Consolas"/>
              </a:rPr>
              <a:t>&lt;form action="processa.php" method="post"&gt;</a:t>
            </a:r>
            <a:endParaRPr/>
          </a:p>
          <a:p>
            <a:pPr>
              <a:lnSpc>
                <a:spcPct val="200000"/>
              </a:lnSpc>
              <a:spcAft>
                <a:spcPts val="200"/>
              </a:spcAft>
              <a:defRPr/>
            </a:pPr>
            <a:r>
              <a:rPr sz="1500">
                <a:solidFill>
                  <a:srgbClr val="EBEEF2"/>
                </a:solidFill>
                <a:latin typeface="Consolas"/>
              </a:rPr>
              <a:t>  &lt;input name="nome" type="text" required&gt;</a:t>
            </a:r>
            <a:endParaRPr/>
          </a:p>
          <a:p>
            <a:pPr>
              <a:lnSpc>
                <a:spcPct val="200000"/>
              </a:lnSpc>
              <a:spcAft>
                <a:spcPts val="200"/>
              </a:spcAft>
              <a:defRPr/>
            </a:pPr>
            <a:r>
              <a:rPr sz="1500">
                <a:solidFill>
                  <a:srgbClr val="EBEEF2"/>
                </a:solidFill>
                <a:latin typeface="Consolas"/>
              </a:rPr>
              <a:t>  &lt;button type="submit"&gt;Cadastrar&lt;/button&gt;</a:t>
            </a:r>
            <a:endParaRPr/>
          </a:p>
          <a:p>
            <a:pPr>
              <a:lnSpc>
                <a:spcPct val="200000"/>
              </a:lnSpc>
              <a:spcAft>
                <a:spcPts val="200"/>
              </a:spcAft>
              <a:defRPr/>
            </a:pPr>
            <a:r>
              <a:rPr sz="1500">
                <a:solidFill>
                  <a:srgbClr val="EBEEF2"/>
                </a:solidFill>
                <a:latin typeface="Consolas"/>
              </a:rPr>
              <a:t>&lt;/form&gt;</a:t>
            </a:r>
            <a:endParaRPr/>
          </a:p>
        </p:txBody>
      </p:sp>
      <p:sp>
        <p:nvSpPr>
          <p:cNvPr id="785777164" name="Rounded Rectangle 9"/>
          <p:cNvSpPr/>
          <p:nvPr/>
        </p:nvSpPr>
        <p:spPr bwMode="auto">
          <a:xfrm>
            <a:off x="6263640" y="1828800"/>
            <a:ext cx="5166360" cy="2880360"/>
          </a:xfrm>
          <a:prstGeom prst="roundRect">
            <a:avLst>
              <a:gd name="adj" fmla="val 12000"/>
            </a:avLst>
          </a:prstGeom>
          <a:solidFill>
            <a:srgbClr val="202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8345285" name="TextBox 10"/>
          <p:cNvSpPr txBox="1"/>
          <p:nvPr/>
        </p:nvSpPr>
        <p:spPr bwMode="auto">
          <a:xfrm>
            <a:off x="6428230" y="1947671"/>
            <a:ext cx="4837896" cy="24819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4999"/>
              </a:lnSpc>
              <a:spcAft>
                <a:spcPts val="200"/>
              </a:spcAft>
              <a:defRPr/>
            </a:pPr>
            <a:r>
              <a:rPr sz="1400">
                <a:solidFill>
                  <a:srgbClr val="EBEEF2"/>
                </a:solidFill>
                <a:latin typeface="Consolas"/>
              </a:rPr>
              <a:t>&lt;?php</a:t>
            </a:r>
            <a:endParaRPr/>
          </a:p>
          <a:p>
            <a:pPr>
              <a:lnSpc>
                <a:spcPct val="114999"/>
              </a:lnSpc>
              <a:spcAft>
                <a:spcPts val="200"/>
              </a:spcAft>
              <a:defRPr/>
            </a:pPr>
            <a:r>
              <a:rPr sz="1400">
                <a:solidFill>
                  <a:srgbClr val="EBEEF2"/>
                </a:solidFill>
                <a:latin typeface="Consolas"/>
              </a:rPr>
              <a:t>$nome = trim($_POST['nome'] ?? '');</a:t>
            </a:r>
            <a:endParaRPr/>
          </a:p>
          <a:p>
            <a:pPr>
              <a:lnSpc>
                <a:spcPct val="114999"/>
              </a:lnSpc>
              <a:spcAft>
                <a:spcPts val="200"/>
              </a:spcAft>
              <a:defRPr/>
            </a:pPr>
            <a:endParaRPr/>
          </a:p>
          <a:p>
            <a:pPr>
              <a:lnSpc>
                <a:spcPct val="114999"/>
              </a:lnSpc>
              <a:spcAft>
                <a:spcPts val="200"/>
              </a:spcAft>
              <a:defRPr/>
            </a:pPr>
            <a:r>
              <a:rPr sz="1400">
                <a:solidFill>
                  <a:srgbClr val="EBEEF2"/>
                </a:solidFill>
                <a:latin typeface="Consolas"/>
              </a:rPr>
              <a:t>if ($nome === '') {</a:t>
            </a:r>
            <a:endParaRPr/>
          </a:p>
          <a:p>
            <a:pPr>
              <a:lnSpc>
                <a:spcPct val="114999"/>
              </a:lnSpc>
              <a:spcAft>
                <a:spcPts val="200"/>
              </a:spcAft>
              <a:defRPr/>
            </a:pPr>
            <a:r>
              <a:rPr sz="1400">
                <a:solidFill>
                  <a:srgbClr val="EBEEF2"/>
                </a:solidFill>
                <a:latin typeface="Consolas"/>
              </a:rPr>
              <a:t>  echo "Informe seu nome.";</a:t>
            </a:r>
            <a:endParaRPr/>
          </a:p>
          <a:p>
            <a:pPr>
              <a:lnSpc>
                <a:spcPct val="114999"/>
              </a:lnSpc>
              <a:spcAft>
                <a:spcPts val="200"/>
              </a:spcAft>
              <a:defRPr/>
            </a:pPr>
            <a:r>
              <a:rPr sz="1400">
                <a:solidFill>
                  <a:srgbClr val="EBEEF2"/>
                </a:solidFill>
                <a:latin typeface="Consolas"/>
              </a:rPr>
              <a:t>} else {</a:t>
            </a:r>
            <a:endParaRPr/>
          </a:p>
          <a:p>
            <a:pPr>
              <a:lnSpc>
                <a:spcPct val="114999"/>
              </a:lnSpc>
              <a:spcAft>
                <a:spcPts val="200"/>
              </a:spcAft>
              <a:defRPr/>
            </a:pPr>
            <a:r>
              <a:rPr sz="1400">
                <a:solidFill>
                  <a:srgbClr val="EBEEF2"/>
                </a:solidFill>
                <a:latin typeface="Consolas"/>
              </a:rPr>
              <a:t>  echo "Olá, " . htmlspecialchars($nome);</a:t>
            </a:r>
            <a:endParaRPr/>
          </a:p>
          <a:p>
            <a:pPr>
              <a:lnSpc>
                <a:spcPct val="114999"/>
              </a:lnSpc>
              <a:spcAft>
                <a:spcPts val="200"/>
              </a:spcAft>
              <a:defRPr/>
            </a:pPr>
            <a:r>
              <a:rPr sz="1400">
                <a:solidFill>
                  <a:srgbClr val="EBEEF2"/>
                </a:solidFill>
                <a:latin typeface="Consolas"/>
              </a:rPr>
              <a:t>}</a:t>
            </a:r>
            <a:endParaRPr/>
          </a:p>
          <a:p>
            <a:pPr>
              <a:lnSpc>
                <a:spcPct val="114999"/>
              </a:lnSpc>
              <a:spcAft>
                <a:spcPts val="200"/>
              </a:spcAft>
              <a:defRPr/>
            </a:pPr>
            <a:r>
              <a:rPr sz="1400">
                <a:solidFill>
                  <a:srgbClr val="EBEEF2"/>
                </a:solidFill>
                <a:latin typeface="Consolas"/>
              </a:rPr>
              <a:t>?&gt;</a:t>
            </a:r>
            <a:endParaRPr/>
          </a:p>
        </p:txBody>
      </p:sp>
      <p:sp>
        <p:nvSpPr>
          <p:cNvPr id="2070746677" name="TextBox 11"/>
          <p:cNvSpPr txBox="1"/>
          <p:nvPr/>
        </p:nvSpPr>
        <p:spPr bwMode="auto">
          <a:xfrm>
            <a:off x="914400" y="5074920"/>
            <a:ext cx="1024128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1800" b="1" i="0">
                <a:solidFill>
                  <a:srgbClr val="BE192D"/>
                </a:solidFill>
                <a:latin typeface="Arial"/>
              </a:rPr>
              <a:t>POST não é criptografia. Para proteger dados em trânsito, use HTTPS.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5598955" name="Rectangle 1"/>
          <p:cNvSpPr/>
          <p:nvPr/>
        </p:nvSpPr>
        <p:spPr bwMode="auto">
          <a:xfrm>
            <a:off x="0" y="0"/>
            <a:ext cx="12191695" cy="1463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3491792" name="TextBox 2"/>
          <p:cNvSpPr txBox="1"/>
          <p:nvPr/>
        </p:nvSpPr>
        <p:spPr bwMode="auto">
          <a:xfrm>
            <a:off x="411480" y="256032"/>
            <a:ext cx="11338560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800" b="1" i="0">
                <a:solidFill>
                  <a:srgbClr val="23262A"/>
                </a:solidFill>
                <a:latin typeface="Arial Black"/>
              </a:rPr>
              <a:t>GET x POST: qual escolher?</a:t>
            </a:r>
            <a:endParaRPr/>
          </a:p>
        </p:txBody>
      </p:sp>
      <p:sp>
        <p:nvSpPr>
          <p:cNvPr id="548299488" name="Rectangle 3"/>
          <p:cNvSpPr/>
          <p:nvPr/>
        </p:nvSpPr>
        <p:spPr bwMode="auto">
          <a:xfrm>
            <a:off x="502920" y="932688"/>
            <a:ext cx="11183112" cy="320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4458067" name="TextBox 4"/>
          <p:cNvSpPr txBox="1"/>
          <p:nvPr/>
        </p:nvSpPr>
        <p:spPr bwMode="auto"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900" b="1" i="0">
                <a:solidFill>
                  <a:srgbClr val="646970"/>
                </a:solidFill>
                <a:latin typeface="Arial"/>
              </a:rPr>
              <a:t>PHP • ENTRADA DE DADOS</a:t>
            </a:r>
            <a:endParaRPr/>
          </a:p>
        </p:txBody>
      </p:sp>
      <p:sp>
        <p:nvSpPr>
          <p:cNvPr id="1106906375" name="TextBox 5"/>
          <p:cNvSpPr txBox="1"/>
          <p:nvPr/>
        </p:nvSpPr>
        <p:spPr bwMode="auto">
          <a:xfrm>
            <a:off x="10698480" y="6492240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  <a:spcAft>
                <a:spcPts val="700"/>
              </a:spcAft>
              <a:defRPr/>
            </a:pPr>
            <a:r>
              <a:rPr sz="900" b="0" i="0">
                <a:solidFill>
                  <a:srgbClr val="646970"/>
                </a:solidFill>
                <a:latin typeface="Arial"/>
              </a:rPr>
              <a:t>08</a:t>
            </a:r>
            <a:endParaRPr/>
          </a:p>
        </p:txBody>
      </p:sp>
      <p:sp>
        <p:nvSpPr>
          <p:cNvPr id="1046746408" name="Rectangle 6"/>
          <p:cNvSpPr/>
          <p:nvPr/>
        </p:nvSpPr>
        <p:spPr bwMode="auto">
          <a:xfrm>
            <a:off x="731520" y="1417320"/>
            <a:ext cx="2743200" cy="566928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2574115" name="TextBox 7"/>
          <p:cNvSpPr txBox="1"/>
          <p:nvPr/>
        </p:nvSpPr>
        <p:spPr bwMode="auto">
          <a:xfrm>
            <a:off x="804672" y="1508759"/>
            <a:ext cx="2596896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1700" b="1" i="0">
                <a:solidFill>
                  <a:srgbClr val="FFFFFF"/>
                </a:solidFill>
                <a:latin typeface="Arial"/>
              </a:rPr>
              <a:t>Critério</a:t>
            </a:r>
            <a:endParaRPr/>
          </a:p>
        </p:txBody>
      </p:sp>
      <p:sp>
        <p:nvSpPr>
          <p:cNvPr id="1948505259" name="Rectangle 8"/>
          <p:cNvSpPr/>
          <p:nvPr/>
        </p:nvSpPr>
        <p:spPr bwMode="auto">
          <a:xfrm>
            <a:off x="3474720" y="1417320"/>
            <a:ext cx="3840480" cy="566928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9877670" name="TextBox 9"/>
          <p:cNvSpPr txBox="1"/>
          <p:nvPr/>
        </p:nvSpPr>
        <p:spPr bwMode="auto">
          <a:xfrm>
            <a:off x="3547872" y="1508759"/>
            <a:ext cx="3694176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1700" b="1" i="0">
                <a:solidFill>
                  <a:srgbClr val="FFFFFF"/>
                </a:solidFill>
                <a:latin typeface="Arial"/>
              </a:rPr>
              <a:t>GET</a:t>
            </a:r>
            <a:endParaRPr/>
          </a:p>
        </p:txBody>
      </p:sp>
      <p:sp>
        <p:nvSpPr>
          <p:cNvPr id="587095929" name="Rectangle 10"/>
          <p:cNvSpPr/>
          <p:nvPr/>
        </p:nvSpPr>
        <p:spPr bwMode="auto">
          <a:xfrm>
            <a:off x="7315200" y="1417320"/>
            <a:ext cx="3840480" cy="566928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534540" name="TextBox 11"/>
          <p:cNvSpPr txBox="1"/>
          <p:nvPr/>
        </p:nvSpPr>
        <p:spPr bwMode="auto">
          <a:xfrm>
            <a:off x="7388352" y="1508759"/>
            <a:ext cx="3694176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1700" b="1" i="0">
                <a:solidFill>
                  <a:srgbClr val="FFFFFF"/>
                </a:solidFill>
                <a:latin typeface="Arial"/>
              </a:rPr>
              <a:t>POST</a:t>
            </a:r>
            <a:endParaRPr/>
          </a:p>
        </p:txBody>
      </p:sp>
      <p:sp>
        <p:nvSpPr>
          <p:cNvPr id="257938193" name="Rectangle 12"/>
          <p:cNvSpPr/>
          <p:nvPr/>
        </p:nvSpPr>
        <p:spPr bwMode="auto">
          <a:xfrm>
            <a:off x="731520" y="1984248"/>
            <a:ext cx="2743200" cy="804672"/>
          </a:xfrm>
          <a:prstGeom prst="rect">
            <a:avLst/>
          </a:prstGeom>
          <a:solidFill>
            <a:srgbClr val="F4F5F7"/>
          </a:solidFill>
          <a:ln>
            <a:solidFill>
              <a:srgbClr val="DC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3374092" name="TextBox 13"/>
          <p:cNvSpPr txBox="1"/>
          <p:nvPr/>
        </p:nvSpPr>
        <p:spPr bwMode="auto">
          <a:xfrm>
            <a:off x="841248" y="2093976"/>
            <a:ext cx="252374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1500" b="1" i="0">
                <a:solidFill>
                  <a:srgbClr val="23262A"/>
                </a:solidFill>
                <a:latin typeface="Arial"/>
              </a:rPr>
              <a:t>Onde ficam os dados?</a:t>
            </a:r>
            <a:endParaRPr/>
          </a:p>
        </p:txBody>
      </p:sp>
      <p:sp>
        <p:nvSpPr>
          <p:cNvPr id="1020745258" name="Rectangle 14"/>
          <p:cNvSpPr/>
          <p:nvPr/>
        </p:nvSpPr>
        <p:spPr bwMode="auto">
          <a:xfrm>
            <a:off x="3474720" y="1984248"/>
            <a:ext cx="3840480" cy="804672"/>
          </a:xfrm>
          <a:prstGeom prst="rect">
            <a:avLst/>
          </a:prstGeom>
          <a:solidFill>
            <a:srgbClr val="F4F5F7"/>
          </a:solidFill>
          <a:ln>
            <a:solidFill>
              <a:srgbClr val="DC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5608181" name="TextBox 15"/>
          <p:cNvSpPr txBox="1"/>
          <p:nvPr/>
        </p:nvSpPr>
        <p:spPr bwMode="auto">
          <a:xfrm>
            <a:off x="3584448" y="2093976"/>
            <a:ext cx="362102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1500" b="0" i="0">
                <a:solidFill>
                  <a:srgbClr val="23262A"/>
                </a:solidFill>
                <a:latin typeface="Arial"/>
              </a:rPr>
              <a:t>Na URL</a:t>
            </a:r>
            <a:endParaRPr/>
          </a:p>
        </p:txBody>
      </p:sp>
      <p:sp>
        <p:nvSpPr>
          <p:cNvPr id="1156878840" name="Rectangle 16"/>
          <p:cNvSpPr/>
          <p:nvPr/>
        </p:nvSpPr>
        <p:spPr bwMode="auto">
          <a:xfrm>
            <a:off x="7315200" y="1984248"/>
            <a:ext cx="3840480" cy="804672"/>
          </a:xfrm>
          <a:prstGeom prst="rect">
            <a:avLst/>
          </a:prstGeom>
          <a:solidFill>
            <a:srgbClr val="F4F5F7"/>
          </a:solidFill>
          <a:ln>
            <a:solidFill>
              <a:srgbClr val="DC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4425771" name="TextBox 17"/>
          <p:cNvSpPr txBox="1"/>
          <p:nvPr/>
        </p:nvSpPr>
        <p:spPr bwMode="auto">
          <a:xfrm>
            <a:off x="7424927" y="2093976"/>
            <a:ext cx="362102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1500" b="0" i="0">
                <a:solidFill>
                  <a:srgbClr val="23262A"/>
                </a:solidFill>
                <a:latin typeface="Arial"/>
              </a:rPr>
              <a:t>No corpo da requisição</a:t>
            </a:r>
            <a:endParaRPr/>
          </a:p>
        </p:txBody>
      </p:sp>
      <p:sp>
        <p:nvSpPr>
          <p:cNvPr id="1379277841" name="Rectangle 18"/>
          <p:cNvSpPr/>
          <p:nvPr/>
        </p:nvSpPr>
        <p:spPr bwMode="auto">
          <a:xfrm>
            <a:off x="731520" y="2788920"/>
            <a:ext cx="27432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C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13201486" name="TextBox 19"/>
          <p:cNvSpPr txBox="1"/>
          <p:nvPr/>
        </p:nvSpPr>
        <p:spPr bwMode="auto">
          <a:xfrm>
            <a:off x="841248" y="2898648"/>
            <a:ext cx="252374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1500" b="1" i="0">
                <a:solidFill>
                  <a:srgbClr val="23262A"/>
                </a:solidFill>
                <a:latin typeface="Arial"/>
              </a:rPr>
              <a:t>Uso comum</a:t>
            </a:r>
            <a:endParaRPr/>
          </a:p>
        </p:txBody>
      </p:sp>
      <p:sp>
        <p:nvSpPr>
          <p:cNvPr id="367539339" name="Rectangle 20"/>
          <p:cNvSpPr/>
          <p:nvPr/>
        </p:nvSpPr>
        <p:spPr bwMode="auto">
          <a:xfrm>
            <a:off x="3474720" y="2788920"/>
            <a:ext cx="384048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C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4611213" name="TextBox 21"/>
          <p:cNvSpPr txBox="1"/>
          <p:nvPr/>
        </p:nvSpPr>
        <p:spPr bwMode="auto">
          <a:xfrm>
            <a:off x="3584448" y="2898648"/>
            <a:ext cx="362102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1500" b="0" i="0">
                <a:solidFill>
                  <a:srgbClr val="23262A"/>
                </a:solidFill>
                <a:latin typeface="Arial"/>
              </a:rPr>
              <a:t>Busca e filtros</a:t>
            </a:r>
            <a:endParaRPr/>
          </a:p>
        </p:txBody>
      </p:sp>
      <p:sp>
        <p:nvSpPr>
          <p:cNvPr id="244500292" name="Rectangle 22"/>
          <p:cNvSpPr/>
          <p:nvPr/>
        </p:nvSpPr>
        <p:spPr bwMode="auto">
          <a:xfrm>
            <a:off x="7315200" y="2788920"/>
            <a:ext cx="384048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C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2878205" name="TextBox 23"/>
          <p:cNvSpPr txBox="1"/>
          <p:nvPr/>
        </p:nvSpPr>
        <p:spPr bwMode="auto">
          <a:xfrm>
            <a:off x="7424927" y="2898648"/>
            <a:ext cx="362102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1500" b="0" i="0">
                <a:solidFill>
                  <a:srgbClr val="23262A"/>
                </a:solidFill>
                <a:latin typeface="Arial"/>
              </a:rPr>
              <a:t>Cadastro e envio de formulário</a:t>
            </a:r>
            <a:endParaRPr/>
          </a:p>
        </p:txBody>
      </p:sp>
      <p:sp>
        <p:nvSpPr>
          <p:cNvPr id="1579129604" name="Rectangle 24"/>
          <p:cNvSpPr/>
          <p:nvPr/>
        </p:nvSpPr>
        <p:spPr bwMode="auto">
          <a:xfrm>
            <a:off x="731520" y="3593591"/>
            <a:ext cx="2743200" cy="804672"/>
          </a:xfrm>
          <a:prstGeom prst="rect">
            <a:avLst/>
          </a:prstGeom>
          <a:solidFill>
            <a:srgbClr val="F4F5F7"/>
          </a:solidFill>
          <a:ln>
            <a:solidFill>
              <a:srgbClr val="DC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5552295" name="TextBox 25"/>
          <p:cNvSpPr txBox="1"/>
          <p:nvPr/>
        </p:nvSpPr>
        <p:spPr bwMode="auto">
          <a:xfrm>
            <a:off x="841248" y="3703320"/>
            <a:ext cx="252374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1500" b="1" i="0">
                <a:solidFill>
                  <a:srgbClr val="23262A"/>
                </a:solidFill>
                <a:latin typeface="Arial"/>
              </a:rPr>
              <a:t>Pode ser salvo nos favoritos?</a:t>
            </a:r>
            <a:endParaRPr/>
          </a:p>
        </p:txBody>
      </p:sp>
      <p:sp>
        <p:nvSpPr>
          <p:cNvPr id="1697615514" name="Rectangle 26"/>
          <p:cNvSpPr/>
          <p:nvPr/>
        </p:nvSpPr>
        <p:spPr bwMode="auto">
          <a:xfrm>
            <a:off x="3474720" y="3593591"/>
            <a:ext cx="3840480" cy="804672"/>
          </a:xfrm>
          <a:prstGeom prst="rect">
            <a:avLst/>
          </a:prstGeom>
          <a:solidFill>
            <a:srgbClr val="F4F5F7"/>
          </a:solidFill>
          <a:ln>
            <a:solidFill>
              <a:srgbClr val="DC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0891272" name="TextBox 27"/>
          <p:cNvSpPr txBox="1"/>
          <p:nvPr/>
        </p:nvSpPr>
        <p:spPr bwMode="auto">
          <a:xfrm>
            <a:off x="3584448" y="3703320"/>
            <a:ext cx="362102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1500" b="0" i="0">
                <a:solidFill>
                  <a:srgbClr val="23262A"/>
                </a:solidFill>
                <a:latin typeface="Arial"/>
              </a:rPr>
              <a:t>Sim, a URL pode ser copiada</a:t>
            </a:r>
            <a:endParaRPr/>
          </a:p>
        </p:txBody>
      </p:sp>
      <p:sp>
        <p:nvSpPr>
          <p:cNvPr id="1574550911" name="Rectangle 28"/>
          <p:cNvSpPr/>
          <p:nvPr/>
        </p:nvSpPr>
        <p:spPr bwMode="auto">
          <a:xfrm>
            <a:off x="7315200" y="3593591"/>
            <a:ext cx="3840480" cy="804672"/>
          </a:xfrm>
          <a:prstGeom prst="rect">
            <a:avLst/>
          </a:prstGeom>
          <a:solidFill>
            <a:srgbClr val="F4F5F7"/>
          </a:solidFill>
          <a:ln>
            <a:solidFill>
              <a:srgbClr val="DC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7016771" name="TextBox 29"/>
          <p:cNvSpPr txBox="1"/>
          <p:nvPr/>
        </p:nvSpPr>
        <p:spPr bwMode="auto">
          <a:xfrm>
            <a:off x="7424927" y="3703320"/>
            <a:ext cx="362102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1500" b="0" i="0">
                <a:solidFill>
                  <a:srgbClr val="23262A"/>
                </a:solidFill>
                <a:latin typeface="Arial"/>
              </a:rPr>
              <a:t>Normalmente não como URL com dados</a:t>
            </a:r>
            <a:endParaRPr/>
          </a:p>
        </p:txBody>
      </p:sp>
      <p:sp>
        <p:nvSpPr>
          <p:cNvPr id="2098935334" name="Rectangle 30"/>
          <p:cNvSpPr/>
          <p:nvPr/>
        </p:nvSpPr>
        <p:spPr bwMode="auto">
          <a:xfrm>
            <a:off x="731520" y="4398264"/>
            <a:ext cx="27432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C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0650539" name="TextBox 31"/>
          <p:cNvSpPr txBox="1"/>
          <p:nvPr/>
        </p:nvSpPr>
        <p:spPr bwMode="auto">
          <a:xfrm>
            <a:off x="841248" y="4507992"/>
            <a:ext cx="252374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1500" b="1" i="0">
                <a:solidFill>
                  <a:srgbClr val="23262A"/>
                </a:solidFill>
                <a:latin typeface="Arial"/>
              </a:rPr>
              <a:t>É seguro só por usar o método?</a:t>
            </a:r>
            <a:endParaRPr/>
          </a:p>
        </p:txBody>
      </p:sp>
      <p:sp>
        <p:nvSpPr>
          <p:cNvPr id="1107510138" name="Rectangle 32"/>
          <p:cNvSpPr/>
          <p:nvPr/>
        </p:nvSpPr>
        <p:spPr bwMode="auto">
          <a:xfrm>
            <a:off x="3474720" y="4398264"/>
            <a:ext cx="384048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C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8123219" name="TextBox 33"/>
          <p:cNvSpPr txBox="1"/>
          <p:nvPr/>
        </p:nvSpPr>
        <p:spPr bwMode="auto">
          <a:xfrm>
            <a:off x="3584448" y="4507992"/>
            <a:ext cx="362102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1500" b="0" i="0">
                <a:solidFill>
                  <a:srgbClr val="23262A"/>
                </a:solidFill>
                <a:latin typeface="Arial"/>
              </a:rPr>
              <a:t>Não</a:t>
            </a:r>
            <a:endParaRPr/>
          </a:p>
        </p:txBody>
      </p:sp>
      <p:sp>
        <p:nvSpPr>
          <p:cNvPr id="1800141647" name="Rectangle 34"/>
          <p:cNvSpPr/>
          <p:nvPr/>
        </p:nvSpPr>
        <p:spPr bwMode="auto">
          <a:xfrm>
            <a:off x="7315200" y="4398264"/>
            <a:ext cx="384048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C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800121" name="TextBox 35"/>
          <p:cNvSpPr txBox="1"/>
          <p:nvPr/>
        </p:nvSpPr>
        <p:spPr bwMode="auto">
          <a:xfrm>
            <a:off x="7424927" y="4507992"/>
            <a:ext cx="362102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1500" b="0" i="0">
                <a:solidFill>
                  <a:srgbClr val="23262A"/>
                </a:solidFill>
                <a:latin typeface="Arial"/>
              </a:rPr>
              <a:t>Não</a:t>
            </a:r>
            <a:endParaRPr/>
          </a:p>
        </p:txBody>
      </p:sp>
      <p:sp>
        <p:nvSpPr>
          <p:cNvPr id="1702629061" name="TextBox 36"/>
          <p:cNvSpPr txBox="1"/>
          <p:nvPr/>
        </p:nvSpPr>
        <p:spPr bwMode="auto">
          <a:xfrm>
            <a:off x="914400" y="5415279"/>
            <a:ext cx="1024128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1700" b="1" i="0">
                <a:solidFill>
                  <a:srgbClr val="BE192D"/>
                </a:solidFill>
                <a:latin typeface="Arial"/>
              </a:rPr>
              <a:t>A escolha depende do objetivo; validação é necessária nos dois métodos.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5354213" name="Rectangle 1"/>
          <p:cNvSpPr/>
          <p:nvPr/>
        </p:nvSpPr>
        <p:spPr bwMode="auto">
          <a:xfrm>
            <a:off x="0" y="0"/>
            <a:ext cx="12191695" cy="1463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6834875" name="TextBox 2"/>
          <p:cNvSpPr txBox="1"/>
          <p:nvPr/>
        </p:nvSpPr>
        <p:spPr bwMode="auto">
          <a:xfrm>
            <a:off x="411480" y="256032"/>
            <a:ext cx="11338560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800" b="1" i="0">
                <a:solidFill>
                  <a:srgbClr val="23262A"/>
                </a:solidFill>
                <a:latin typeface="Arial Black"/>
              </a:rPr>
              <a:t>Variáveis superglobais mais usadas</a:t>
            </a:r>
            <a:endParaRPr/>
          </a:p>
        </p:txBody>
      </p:sp>
      <p:sp>
        <p:nvSpPr>
          <p:cNvPr id="1665924026" name="Rectangle 3"/>
          <p:cNvSpPr/>
          <p:nvPr/>
        </p:nvSpPr>
        <p:spPr bwMode="auto">
          <a:xfrm>
            <a:off x="502920" y="932688"/>
            <a:ext cx="11183112" cy="320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4633379" name="TextBox 4"/>
          <p:cNvSpPr txBox="1"/>
          <p:nvPr/>
        </p:nvSpPr>
        <p:spPr bwMode="auto"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900" b="1" i="0">
                <a:solidFill>
                  <a:srgbClr val="646970"/>
                </a:solidFill>
                <a:latin typeface="Arial"/>
              </a:rPr>
              <a:t>PHP • ENTRADA DE DADOS</a:t>
            </a:r>
            <a:endParaRPr/>
          </a:p>
        </p:txBody>
      </p:sp>
      <p:sp>
        <p:nvSpPr>
          <p:cNvPr id="691447800" name="TextBox 5"/>
          <p:cNvSpPr txBox="1"/>
          <p:nvPr/>
        </p:nvSpPr>
        <p:spPr bwMode="auto">
          <a:xfrm>
            <a:off x="10698480" y="6492240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  <a:spcAft>
                <a:spcPts val="700"/>
              </a:spcAft>
              <a:defRPr/>
            </a:pPr>
            <a:r>
              <a:rPr sz="900" b="0" i="0">
                <a:solidFill>
                  <a:srgbClr val="646970"/>
                </a:solidFill>
                <a:latin typeface="Arial"/>
              </a:rPr>
              <a:t>09</a:t>
            </a:r>
            <a:endParaRPr/>
          </a:p>
        </p:txBody>
      </p:sp>
      <p:sp>
        <p:nvSpPr>
          <p:cNvPr id="1944742246" name="Rounded Rectangle 6"/>
          <p:cNvSpPr/>
          <p:nvPr/>
        </p:nvSpPr>
        <p:spPr bwMode="auto">
          <a:xfrm>
            <a:off x="868680" y="1280160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26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0719407" name="TextBox 7"/>
          <p:cNvSpPr txBox="1"/>
          <p:nvPr/>
        </p:nvSpPr>
        <p:spPr bwMode="auto">
          <a:xfrm>
            <a:off x="987552" y="1435607"/>
            <a:ext cx="19202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000" b="1" i="0">
                <a:solidFill>
                  <a:srgbClr val="FFFFFF"/>
                </a:solidFill>
                <a:latin typeface="Consolas"/>
              </a:rPr>
              <a:t>$_GET</a:t>
            </a:r>
            <a:endParaRPr/>
          </a:p>
        </p:txBody>
      </p:sp>
      <p:sp>
        <p:nvSpPr>
          <p:cNvPr id="179569160" name="TextBox 8"/>
          <p:cNvSpPr txBox="1"/>
          <p:nvPr/>
        </p:nvSpPr>
        <p:spPr bwMode="auto">
          <a:xfrm>
            <a:off x="3337560" y="1399031"/>
            <a:ext cx="758952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2000" b="0" i="0">
                <a:solidFill>
                  <a:srgbClr val="23262A"/>
                </a:solidFill>
                <a:latin typeface="Arial"/>
              </a:rPr>
              <a:t>Parâmetros enviados pela URL</a:t>
            </a:r>
            <a:endParaRPr/>
          </a:p>
        </p:txBody>
      </p:sp>
      <p:sp>
        <p:nvSpPr>
          <p:cNvPr id="1899570254" name="Rounded Rectangle 9"/>
          <p:cNvSpPr/>
          <p:nvPr/>
        </p:nvSpPr>
        <p:spPr bwMode="auto">
          <a:xfrm>
            <a:off x="868680" y="2359152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2877118" name="TextBox 10"/>
          <p:cNvSpPr txBox="1"/>
          <p:nvPr/>
        </p:nvSpPr>
        <p:spPr bwMode="auto">
          <a:xfrm>
            <a:off x="987552" y="2514600"/>
            <a:ext cx="19202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000" b="1" i="0">
                <a:solidFill>
                  <a:srgbClr val="FFFFFF"/>
                </a:solidFill>
                <a:latin typeface="Consolas"/>
              </a:rPr>
              <a:t>$_POST</a:t>
            </a:r>
            <a:endParaRPr/>
          </a:p>
        </p:txBody>
      </p:sp>
      <p:sp>
        <p:nvSpPr>
          <p:cNvPr id="974964834" name="TextBox 11"/>
          <p:cNvSpPr txBox="1"/>
          <p:nvPr/>
        </p:nvSpPr>
        <p:spPr bwMode="auto">
          <a:xfrm>
            <a:off x="3337560" y="2478024"/>
            <a:ext cx="758952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2000" b="0" i="0">
                <a:solidFill>
                  <a:srgbClr val="23262A"/>
                </a:solidFill>
                <a:latin typeface="Arial"/>
              </a:rPr>
              <a:t>Dados enviados pelo método POST</a:t>
            </a:r>
            <a:endParaRPr/>
          </a:p>
        </p:txBody>
      </p:sp>
      <p:sp>
        <p:nvSpPr>
          <p:cNvPr id="749652849" name="Rounded Rectangle 12"/>
          <p:cNvSpPr/>
          <p:nvPr/>
        </p:nvSpPr>
        <p:spPr bwMode="auto">
          <a:xfrm>
            <a:off x="868680" y="3438144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1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4477482" name="TextBox 13"/>
          <p:cNvSpPr txBox="1"/>
          <p:nvPr/>
        </p:nvSpPr>
        <p:spPr bwMode="auto">
          <a:xfrm>
            <a:off x="987552" y="3593591"/>
            <a:ext cx="19202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000" b="1" i="0">
                <a:solidFill>
                  <a:srgbClr val="FFFFFF"/>
                </a:solidFill>
                <a:latin typeface="Consolas"/>
              </a:rPr>
              <a:t>$_FILES</a:t>
            </a:r>
            <a:endParaRPr/>
          </a:p>
        </p:txBody>
      </p:sp>
      <p:sp>
        <p:nvSpPr>
          <p:cNvPr id="164316" name="TextBox 14"/>
          <p:cNvSpPr txBox="1"/>
          <p:nvPr/>
        </p:nvSpPr>
        <p:spPr bwMode="auto">
          <a:xfrm>
            <a:off x="3337560" y="3557015"/>
            <a:ext cx="758952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2000" b="0" i="0">
                <a:solidFill>
                  <a:srgbClr val="23262A"/>
                </a:solidFill>
                <a:latin typeface="Arial"/>
              </a:rPr>
              <a:t>Informações de arquivos enviados</a:t>
            </a:r>
            <a:endParaRPr/>
          </a:p>
        </p:txBody>
      </p:sp>
      <p:sp>
        <p:nvSpPr>
          <p:cNvPr id="273144352" name="Rounded Rectangle 15"/>
          <p:cNvSpPr/>
          <p:nvPr/>
        </p:nvSpPr>
        <p:spPr bwMode="auto">
          <a:xfrm>
            <a:off x="868680" y="4517136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64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1088686" name="TextBox 16"/>
          <p:cNvSpPr txBox="1"/>
          <p:nvPr/>
        </p:nvSpPr>
        <p:spPr bwMode="auto">
          <a:xfrm>
            <a:off x="987552" y="4672582"/>
            <a:ext cx="19202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000" b="1" i="0">
                <a:solidFill>
                  <a:srgbClr val="FFFFFF"/>
                </a:solidFill>
                <a:latin typeface="Consolas"/>
              </a:rPr>
              <a:t>$_COOKIE</a:t>
            </a:r>
            <a:endParaRPr/>
          </a:p>
        </p:txBody>
      </p:sp>
      <p:sp>
        <p:nvSpPr>
          <p:cNvPr id="179653899" name="TextBox 17"/>
          <p:cNvSpPr txBox="1"/>
          <p:nvPr/>
        </p:nvSpPr>
        <p:spPr bwMode="auto">
          <a:xfrm>
            <a:off x="3337560" y="4636007"/>
            <a:ext cx="758952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2000" b="0" i="0">
                <a:solidFill>
                  <a:srgbClr val="23262A"/>
                </a:solidFill>
                <a:latin typeface="Arial"/>
              </a:rPr>
              <a:t>Dados armazenados em cookies</a:t>
            </a:r>
            <a:endParaRPr/>
          </a:p>
        </p:txBody>
      </p:sp>
      <p:sp>
        <p:nvSpPr>
          <p:cNvPr id="1885340962" name="TextBox 18"/>
          <p:cNvSpPr txBox="1"/>
          <p:nvPr/>
        </p:nvSpPr>
        <p:spPr bwMode="auto">
          <a:xfrm>
            <a:off x="914400" y="5715000"/>
            <a:ext cx="1024128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1700" b="1" i="0">
                <a:solidFill>
                  <a:srgbClr val="BE192D"/>
                </a:solidFill>
                <a:latin typeface="Arial"/>
              </a:rPr>
              <a:t>Evite $_REQUEST quando precisar deixar claro de onde o dado deve vir.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521683" name="Rectangle 1"/>
          <p:cNvSpPr/>
          <p:nvPr/>
        </p:nvSpPr>
        <p:spPr bwMode="auto">
          <a:xfrm>
            <a:off x="0" y="0"/>
            <a:ext cx="12191695" cy="1463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3821010" name="TextBox 2"/>
          <p:cNvSpPr txBox="1"/>
          <p:nvPr/>
        </p:nvSpPr>
        <p:spPr bwMode="auto">
          <a:xfrm>
            <a:off x="411480" y="256032"/>
            <a:ext cx="11338560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800" b="1" i="0">
                <a:solidFill>
                  <a:srgbClr val="23262A"/>
                </a:solidFill>
                <a:latin typeface="Arial Black"/>
              </a:rPr>
              <a:t>Exemplo prático: calcular a média</a:t>
            </a:r>
            <a:endParaRPr/>
          </a:p>
        </p:txBody>
      </p:sp>
      <p:sp>
        <p:nvSpPr>
          <p:cNvPr id="1765679473" name="Rectangle 3"/>
          <p:cNvSpPr/>
          <p:nvPr/>
        </p:nvSpPr>
        <p:spPr bwMode="auto">
          <a:xfrm>
            <a:off x="502920" y="932688"/>
            <a:ext cx="11183112" cy="320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2691962" name="TextBox 4"/>
          <p:cNvSpPr txBox="1"/>
          <p:nvPr/>
        </p:nvSpPr>
        <p:spPr bwMode="auto"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900" b="1" i="0">
                <a:solidFill>
                  <a:srgbClr val="646970"/>
                </a:solidFill>
                <a:latin typeface="Arial"/>
              </a:rPr>
              <a:t>PHP • ENTRADA DE DADOS</a:t>
            </a:r>
            <a:endParaRPr/>
          </a:p>
        </p:txBody>
      </p:sp>
      <p:sp>
        <p:nvSpPr>
          <p:cNvPr id="1966011416" name="TextBox 5"/>
          <p:cNvSpPr txBox="1"/>
          <p:nvPr/>
        </p:nvSpPr>
        <p:spPr bwMode="auto">
          <a:xfrm>
            <a:off x="10698480" y="6492240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  <a:spcAft>
                <a:spcPts val="700"/>
              </a:spcAft>
              <a:defRPr/>
            </a:pPr>
            <a:r>
              <a:rPr sz="900" b="0" i="0">
                <a:solidFill>
                  <a:srgbClr val="646970"/>
                </a:solidFill>
                <a:latin typeface="Arial"/>
              </a:rPr>
              <a:t>10</a:t>
            </a:r>
            <a:endParaRPr/>
          </a:p>
        </p:txBody>
      </p:sp>
      <p:sp>
        <p:nvSpPr>
          <p:cNvPr id="1141136116" name="TextBox 6"/>
          <p:cNvSpPr txBox="1"/>
          <p:nvPr/>
        </p:nvSpPr>
        <p:spPr bwMode="auto">
          <a:xfrm>
            <a:off x="731520" y="1188720"/>
            <a:ext cx="1069848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1700" b="1" i="0">
                <a:solidFill>
                  <a:srgbClr val="BE192D"/>
                </a:solidFill>
                <a:latin typeface="Arial"/>
              </a:rPr>
              <a:t>Arquivo: media.php — exemplo simples em um único arquivo.</a:t>
            </a:r>
            <a:endParaRPr/>
          </a:p>
        </p:txBody>
      </p:sp>
      <p:sp>
        <p:nvSpPr>
          <p:cNvPr id="41359408" name="Rounded Rectangle 7"/>
          <p:cNvSpPr/>
          <p:nvPr/>
        </p:nvSpPr>
        <p:spPr bwMode="auto">
          <a:xfrm>
            <a:off x="685800" y="1691640"/>
            <a:ext cx="6995160" cy="4343400"/>
          </a:xfrm>
          <a:prstGeom prst="roundRect">
            <a:avLst>
              <a:gd name="adj" fmla="val 12000"/>
            </a:avLst>
          </a:prstGeom>
          <a:solidFill>
            <a:srgbClr val="202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8678317" name="TextBox 8"/>
          <p:cNvSpPr txBox="1"/>
          <p:nvPr/>
        </p:nvSpPr>
        <p:spPr bwMode="auto">
          <a:xfrm>
            <a:off x="913891" y="1683511"/>
            <a:ext cx="6666336" cy="4282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Aft>
                <a:spcPts val="200"/>
              </a:spcAft>
              <a:defRPr/>
            </a:pPr>
            <a:r>
              <a:rPr sz="1300">
                <a:solidFill>
                  <a:srgbClr val="EBEEF2"/>
                </a:solidFill>
                <a:latin typeface="Consolas"/>
              </a:rPr>
              <a:t>&lt;?php</a:t>
            </a: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/>
            </a:pPr>
            <a:r>
              <a:rPr sz="1300">
                <a:solidFill>
                  <a:srgbClr val="EBEEF2"/>
                </a:solidFill>
                <a:latin typeface="Consolas"/>
              </a:rPr>
              <a:t>$media = null;</a:t>
            </a: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/>
            </a:pPr>
            <a:r>
              <a:rPr sz="1300">
                <a:solidFill>
                  <a:srgbClr val="EBEEF2"/>
                </a:solidFill>
                <a:latin typeface="Consolas"/>
              </a:rPr>
              <a:t>if ($_SERVER['REQUEST_METHOD'] === 'POST') {</a:t>
            </a: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/>
            </a:pPr>
            <a:r>
              <a:rPr sz="1300">
                <a:solidFill>
                  <a:srgbClr val="EBEEF2"/>
                </a:solidFill>
                <a:latin typeface="Consolas"/>
              </a:rPr>
              <a:t>  $n1 = filter_input(INPUT_POST, 'nota1', FILTER_VALIDATE_FLOAT);</a:t>
            </a: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/>
            </a:pPr>
            <a:r>
              <a:rPr sz="1300">
                <a:solidFill>
                  <a:srgbClr val="EBEEF2"/>
                </a:solidFill>
                <a:latin typeface="Consolas"/>
              </a:rPr>
              <a:t>  $n2 = filter_input(INPUT_POST, 'nota2', FILTER_VALIDATE_FLOAT);</a:t>
            </a: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/>
            </a:pP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/>
            </a:pPr>
            <a:r>
              <a:rPr sz="1300">
                <a:solidFill>
                  <a:srgbClr val="EBEEF2"/>
                </a:solidFill>
                <a:latin typeface="Consolas"/>
              </a:rPr>
              <a:t>  if ($n1 !== false &amp;&amp; $n1 !== null &amp;&amp;</a:t>
            </a: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/>
            </a:pPr>
            <a:r>
              <a:rPr sz="1300">
                <a:solidFill>
                  <a:srgbClr val="EBEEF2"/>
                </a:solidFill>
                <a:latin typeface="Consolas"/>
              </a:rPr>
              <a:t>      $n2 !== false &amp;&amp; $n2 !== null &amp;&amp;</a:t>
            </a: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/>
            </a:pPr>
            <a:r>
              <a:rPr sz="1300">
                <a:solidFill>
                  <a:srgbClr val="EBEEF2"/>
                </a:solidFill>
                <a:latin typeface="Consolas"/>
              </a:rPr>
              <a:t>      $n1 &gt;= 0 &amp;&amp; $n1 &lt;= 10 &amp;&amp; $n2 &gt;= 0 &amp;&amp; $n2 &lt;= 10) {</a:t>
            </a: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/>
            </a:pPr>
            <a:r>
              <a:rPr sz="1300">
                <a:solidFill>
                  <a:srgbClr val="EBEEF2"/>
                </a:solidFill>
                <a:latin typeface="Consolas"/>
              </a:rPr>
              <a:t>    $media = ($n1 + $n2) / 2;</a:t>
            </a: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/>
            </a:pPr>
            <a:r>
              <a:rPr sz="1300">
                <a:solidFill>
                  <a:srgbClr val="EBEEF2"/>
                </a:solidFill>
                <a:latin typeface="Consolas"/>
              </a:rPr>
              <a:t>  }</a:t>
            </a: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/>
            </a:pPr>
            <a:r>
              <a:rPr sz="1300">
                <a:solidFill>
                  <a:srgbClr val="EBEEF2"/>
                </a:solidFill>
                <a:latin typeface="Consolas"/>
              </a:rPr>
              <a:t>}</a:t>
            </a: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/>
            </a:pPr>
            <a:r>
              <a:rPr sz="1300">
                <a:solidFill>
                  <a:srgbClr val="EBEEF2"/>
                </a:solidFill>
                <a:latin typeface="Consolas"/>
              </a:rPr>
              <a:t>?&gt;</a:t>
            </a:r>
            <a:endParaRPr/>
          </a:p>
        </p:txBody>
      </p:sp>
      <p:sp>
        <p:nvSpPr>
          <p:cNvPr id="1496432278" name="Rounded Rectangle 9"/>
          <p:cNvSpPr/>
          <p:nvPr/>
        </p:nvSpPr>
        <p:spPr bwMode="auto">
          <a:xfrm>
            <a:off x="7955279" y="1691640"/>
            <a:ext cx="3520440" cy="2377440"/>
          </a:xfrm>
          <a:prstGeom prst="roundRect">
            <a:avLst>
              <a:gd name="adj" fmla="val 12000"/>
            </a:avLst>
          </a:prstGeom>
          <a:solidFill>
            <a:srgbClr val="202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1750080" name="TextBox 10"/>
          <p:cNvSpPr txBox="1"/>
          <p:nvPr/>
        </p:nvSpPr>
        <p:spPr bwMode="auto">
          <a:xfrm>
            <a:off x="8119871" y="1810512"/>
            <a:ext cx="3191256" cy="2157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/>
            </a:pPr>
            <a:r>
              <a:rPr sz="1200">
                <a:solidFill>
                  <a:srgbClr val="EBEEF2"/>
                </a:solidFill>
                <a:latin typeface="Consolas"/>
              </a:rPr>
              <a:t>&lt;form method="post"&gt;</a:t>
            </a:r>
            <a:endParaRPr/>
          </a:p>
          <a:p>
            <a:pPr>
              <a:lnSpc>
                <a:spcPct val="105000"/>
              </a:lnSpc>
              <a:spcAft>
                <a:spcPts val="200"/>
              </a:spcAft>
              <a:defRPr/>
            </a:pPr>
            <a:r>
              <a:rPr sz="1200">
                <a:solidFill>
                  <a:srgbClr val="EBEEF2"/>
                </a:solidFill>
                <a:latin typeface="Consolas"/>
              </a:rPr>
              <a:t>  &lt;input name="nota1" type="number"</a:t>
            </a:r>
            <a:endParaRPr/>
          </a:p>
          <a:p>
            <a:pPr>
              <a:lnSpc>
                <a:spcPct val="105000"/>
              </a:lnSpc>
              <a:spcAft>
                <a:spcPts val="200"/>
              </a:spcAft>
              <a:defRPr/>
            </a:pPr>
            <a:r>
              <a:rPr sz="1200">
                <a:solidFill>
                  <a:srgbClr val="EBEEF2"/>
                </a:solidFill>
                <a:latin typeface="Consolas"/>
              </a:rPr>
              <a:t>    min="0" max="10" step="0.1" required&gt;</a:t>
            </a:r>
            <a:endParaRPr/>
          </a:p>
          <a:p>
            <a:pPr>
              <a:lnSpc>
                <a:spcPct val="105000"/>
              </a:lnSpc>
              <a:spcAft>
                <a:spcPts val="200"/>
              </a:spcAft>
              <a:defRPr/>
            </a:pPr>
            <a:r>
              <a:rPr sz="1200">
                <a:solidFill>
                  <a:srgbClr val="EBEEF2"/>
                </a:solidFill>
                <a:latin typeface="Consolas"/>
              </a:rPr>
              <a:t>  &lt;input name="nota2" type="number"</a:t>
            </a:r>
            <a:endParaRPr/>
          </a:p>
          <a:p>
            <a:pPr>
              <a:lnSpc>
                <a:spcPct val="105000"/>
              </a:lnSpc>
              <a:spcAft>
                <a:spcPts val="200"/>
              </a:spcAft>
              <a:defRPr/>
            </a:pPr>
            <a:r>
              <a:rPr sz="1200">
                <a:solidFill>
                  <a:srgbClr val="EBEEF2"/>
                </a:solidFill>
                <a:latin typeface="Consolas"/>
              </a:rPr>
              <a:t>    min="0" max="10" step="0.1" required&gt;</a:t>
            </a:r>
            <a:endParaRPr/>
          </a:p>
          <a:p>
            <a:pPr>
              <a:lnSpc>
                <a:spcPct val="105000"/>
              </a:lnSpc>
              <a:spcAft>
                <a:spcPts val="200"/>
              </a:spcAft>
              <a:defRPr/>
            </a:pPr>
            <a:r>
              <a:rPr sz="1200">
                <a:solidFill>
                  <a:srgbClr val="EBEEF2"/>
                </a:solidFill>
                <a:latin typeface="Consolas"/>
              </a:rPr>
              <a:t>  &lt;button&gt;Calcular&lt;/button&gt;</a:t>
            </a:r>
            <a:endParaRPr/>
          </a:p>
          <a:p>
            <a:pPr>
              <a:lnSpc>
                <a:spcPct val="105000"/>
              </a:lnSpc>
              <a:spcAft>
                <a:spcPts val="200"/>
              </a:spcAft>
              <a:defRPr/>
            </a:pPr>
            <a:r>
              <a:rPr sz="1200">
                <a:solidFill>
                  <a:srgbClr val="EBEEF2"/>
                </a:solidFill>
                <a:latin typeface="Consolas"/>
              </a:rPr>
              <a:t>&lt;/form&gt;</a:t>
            </a:r>
            <a:endParaRPr/>
          </a:p>
        </p:txBody>
      </p:sp>
      <p:sp>
        <p:nvSpPr>
          <p:cNvPr id="2001927161" name="Rounded Rectangle 11"/>
          <p:cNvSpPr/>
          <p:nvPr/>
        </p:nvSpPr>
        <p:spPr bwMode="auto">
          <a:xfrm>
            <a:off x="7955279" y="4343400"/>
            <a:ext cx="3520440" cy="1143000"/>
          </a:xfrm>
          <a:prstGeom prst="roundRect">
            <a:avLst>
              <a:gd name="adj" fmla="val 12000"/>
            </a:avLst>
          </a:prstGeom>
          <a:solidFill>
            <a:srgbClr val="FC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4013906" name="TextBox 12"/>
          <p:cNvSpPr txBox="1"/>
          <p:nvPr/>
        </p:nvSpPr>
        <p:spPr bwMode="auto">
          <a:xfrm>
            <a:off x="8183879" y="4526280"/>
            <a:ext cx="3063240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1600" b="1" i="0">
                <a:solidFill>
                  <a:srgbClr val="23262A"/>
                </a:solidFill>
                <a:latin typeface="Arial"/>
              </a:rPr>
              <a:t>Depois da validação, exiba a média e a situação.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6544149" name="Rectangle 1"/>
          <p:cNvSpPr/>
          <p:nvPr/>
        </p:nvSpPr>
        <p:spPr bwMode="auto">
          <a:xfrm>
            <a:off x="0" y="0"/>
            <a:ext cx="12191695" cy="1463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8584484" name="TextBox 2"/>
          <p:cNvSpPr txBox="1"/>
          <p:nvPr/>
        </p:nvSpPr>
        <p:spPr bwMode="auto">
          <a:xfrm>
            <a:off x="411480" y="256032"/>
            <a:ext cx="11338560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800" b="1" i="0">
                <a:solidFill>
                  <a:srgbClr val="23262A"/>
                </a:solidFill>
                <a:latin typeface="Arial Black"/>
              </a:rPr>
              <a:t>Validar antes de usar</a:t>
            </a:r>
            <a:endParaRPr/>
          </a:p>
        </p:txBody>
      </p:sp>
      <p:sp>
        <p:nvSpPr>
          <p:cNvPr id="1120894811" name="Rectangle 3"/>
          <p:cNvSpPr/>
          <p:nvPr/>
        </p:nvSpPr>
        <p:spPr bwMode="auto">
          <a:xfrm>
            <a:off x="502920" y="932688"/>
            <a:ext cx="11183112" cy="320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5435332" name="TextBox 4"/>
          <p:cNvSpPr txBox="1"/>
          <p:nvPr/>
        </p:nvSpPr>
        <p:spPr bwMode="auto"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900" b="1" i="0">
                <a:solidFill>
                  <a:srgbClr val="646970"/>
                </a:solidFill>
                <a:latin typeface="Arial"/>
              </a:rPr>
              <a:t>PHP • ENTRADA DE DADOS</a:t>
            </a:r>
            <a:endParaRPr/>
          </a:p>
        </p:txBody>
      </p:sp>
      <p:sp>
        <p:nvSpPr>
          <p:cNvPr id="1910212885" name="TextBox 5"/>
          <p:cNvSpPr txBox="1"/>
          <p:nvPr/>
        </p:nvSpPr>
        <p:spPr bwMode="auto">
          <a:xfrm>
            <a:off x="10698480" y="6492240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  <a:spcAft>
                <a:spcPts val="700"/>
              </a:spcAft>
              <a:defRPr/>
            </a:pPr>
            <a:r>
              <a:rPr sz="900" b="0" i="0">
                <a:solidFill>
                  <a:srgbClr val="646970"/>
                </a:solidFill>
                <a:latin typeface="Arial"/>
              </a:rPr>
              <a:t>11</a:t>
            </a:r>
            <a:endParaRPr/>
          </a:p>
        </p:txBody>
      </p:sp>
      <p:sp>
        <p:nvSpPr>
          <p:cNvPr id="1882371237" name="TextBox 6"/>
          <p:cNvSpPr txBox="1"/>
          <p:nvPr/>
        </p:nvSpPr>
        <p:spPr bwMode="auto">
          <a:xfrm>
            <a:off x="731520" y="1170939"/>
            <a:ext cx="1078992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1800" b="1" i="0">
                <a:solidFill>
                  <a:srgbClr val="BE192D"/>
                </a:solidFill>
                <a:latin typeface="Arial"/>
              </a:rPr>
              <a:t>Validação no navegador ajuda; validação no servidor é indispensável.</a:t>
            </a:r>
            <a:endParaRPr/>
          </a:p>
        </p:txBody>
      </p:sp>
      <p:sp>
        <p:nvSpPr>
          <p:cNvPr id="2040856696" name="Rounded Rectangle 7"/>
          <p:cNvSpPr/>
          <p:nvPr/>
        </p:nvSpPr>
        <p:spPr bwMode="auto">
          <a:xfrm>
            <a:off x="777240" y="1937511"/>
            <a:ext cx="146304" cy="146304"/>
          </a:xfrm>
          <a:prstGeom prst="roundRect">
            <a:avLst>
              <a:gd name="adj" fmla="val 12000"/>
            </a:avLst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00697599" name="TextBox 8"/>
          <p:cNvSpPr txBox="1"/>
          <p:nvPr/>
        </p:nvSpPr>
        <p:spPr bwMode="auto">
          <a:xfrm>
            <a:off x="1078992" y="1737360"/>
            <a:ext cx="100584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2200" b="0" i="0">
                <a:solidFill>
                  <a:srgbClr val="23262A"/>
                </a:solidFill>
                <a:latin typeface="Arial"/>
              </a:rPr>
              <a:t>Não confie apenas no required ou no min/max do HTML.</a:t>
            </a:r>
            <a:endParaRPr/>
          </a:p>
        </p:txBody>
      </p:sp>
      <p:sp>
        <p:nvSpPr>
          <p:cNvPr id="1095661624" name="Rounded Rectangle 9"/>
          <p:cNvSpPr/>
          <p:nvPr/>
        </p:nvSpPr>
        <p:spPr bwMode="auto">
          <a:xfrm>
            <a:off x="777240" y="2742183"/>
            <a:ext cx="146304" cy="146304"/>
          </a:xfrm>
          <a:prstGeom prst="roundRect">
            <a:avLst>
              <a:gd name="adj" fmla="val 12000"/>
            </a:avLst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9181106" name="TextBox 10"/>
          <p:cNvSpPr txBox="1"/>
          <p:nvPr/>
        </p:nvSpPr>
        <p:spPr bwMode="auto">
          <a:xfrm>
            <a:off x="1078992" y="2542032"/>
            <a:ext cx="100584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2200" b="0" i="0">
                <a:solidFill>
                  <a:srgbClr val="23262A"/>
                </a:solidFill>
                <a:latin typeface="Arial"/>
              </a:rPr>
              <a:t>O usuário pode alterar os dados antes de enviá-los.</a:t>
            </a:r>
            <a:endParaRPr/>
          </a:p>
        </p:txBody>
      </p:sp>
      <p:sp>
        <p:nvSpPr>
          <p:cNvPr id="1650256079" name="Rounded Rectangle 11"/>
          <p:cNvSpPr/>
          <p:nvPr/>
        </p:nvSpPr>
        <p:spPr bwMode="auto">
          <a:xfrm>
            <a:off x="777240" y="3546855"/>
            <a:ext cx="146304" cy="146304"/>
          </a:xfrm>
          <a:prstGeom prst="roundRect">
            <a:avLst>
              <a:gd name="adj" fmla="val 12000"/>
            </a:avLst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1287464" name="TextBox 12"/>
          <p:cNvSpPr txBox="1"/>
          <p:nvPr/>
        </p:nvSpPr>
        <p:spPr bwMode="auto">
          <a:xfrm>
            <a:off x="1078992" y="3346704"/>
            <a:ext cx="10059119" cy="115250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50000"/>
              </a:lnSpc>
              <a:spcAft>
                <a:spcPts val="700"/>
              </a:spcAft>
              <a:defRPr/>
            </a:pPr>
            <a:r>
              <a:rPr sz="2200" b="0" i="0">
                <a:solidFill>
                  <a:srgbClr val="23262A"/>
                </a:solidFill>
                <a:latin typeface="Arial"/>
              </a:rPr>
              <a:t>Verifique se o campo existe, se tem o formato esperado e se está no intervalo permitido.</a:t>
            </a:r>
            <a:endParaRPr/>
          </a:p>
        </p:txBody>
      </p:sp>
      <p:sp>
        <p:nvSpPr>
          <p:cNvPr id="1665943002" name="Rounded Rectangle 13"/>
          <p:cNvSpPr/>
          <p:nvPr/>
        </p:nvSpPr>
        <p:spPr bwMode="auto">
          <a:xfrm>
            <a:off x="777240" y="4986527"/>
            <a:ext cx="146304" cy="146304"/>
          </a:xfrm>
          <a:prstGeom prst="roundRect">
            <a:avLst>
              <a:gd name="adj" fmla="val 12000"/>
            </a:avLst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6399382" name="TextBox 14"/>
          <p:cNvSpPr txBox="1"/>
          <p:nvPr/>
        </p:nvSpPr>
        <p:spPr bwMode="auto">
          <a:xfrm>
            <a:off x="1078992" y="4786375"/>
            <a:ext cx="100584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2200" b="0" i="0">
                <a:solidFill>
                  <a:srgbClr val="23262A"/>
                </a:solidFill>
                <a:latin typeface="Arial"/>
              </a:rPr>
              <a:t>Trate valores vazios e mensagens de erro sem interromper a página.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883108" name="Rectangle 1"/>
          <p:cNvSpPr/>
          <p:nvPr/>
        </p:nvSpPr>
        <p:spPr bwMode="auto">
          <a:xfrm>
            <a:off x="0" y="0"/>
            <a:ext cx="12191695" cy="1463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8018253" name="TextBox 2"/>
          <p:cNvSpPr txBox="1"/>
          <p:nvPr/>
        </p:nvSpPr>
        <p:spPr bwMode="auto">
          <a:xfrm>
            <a:off x="411480" y="256032"/>
            <a:ext cx="11338560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800" b="1" i="0">
                <a:solidFill>
                  <a:srgbClr val="23262A"/>
                </a:solidFill>
                <a:latin typeface="Arial Black"/>
              </a:rPr>
              <a:t>Segurança básica: não confie na entrada</a:t>
            </a:r>
            <a:endParaRPr/>
          </a:p>
        </p:txBody>
      </p:sp>
      <p:sp>
        <p:nvSpPr>
          <p:cNvPr id="667832030" name="Rectangle 3"/>
          <p:cNvSpPr/>
          <p:nvPr/>
        </p:nvSpPr>
        <p:spPr bwMode="auto">
          <a:xfrm>
            <a:off x="502920" y="932688"/>
            <a:ext cx="11183112" cy="320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7210699" name="TextBox 4"/>
          <p:cNvSpPr txBox="1"/>
          <p:nvPr/>
        </p:nvSpPr>
        <p:spPr bwMode="auto"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900" b="1" i="0">
                <a:solidFill>
                  <a:srgbClr val="646970"/>
                </a:solidFill>
                <a:latin typeface="Arial"/>
              </a:rPr>
              <a:t>PHP • ENTRADA DE DADOS</a:t>
            </a:r>
            <a:endParaRPr/>
          </a:p>
        </p:txBody>
      </p:sp>
      <p:sp>
        <p:nvSpPr>
          <p:cNvPr id="1818724323" name="TextBox 5"/>
          <p:cNvSpPr txBox="1"/>
          <p:nvPr/>
        </p:nvSpPr>
        <p:spPr bwMode="auto">
          <a:xfrm>
            <a:off x="10698480" y="6492240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  <a:spcAft>
                <a:spcPts val="700"/>
              </a:spcAft>
              <a:defRPr/>
            </a:pPr>
            <a:r>
              <a:rPr sz="900" b="0" i="0">
                <a:solidFill>
                  <a:srgbClr val="646970"/>
                </a:solidFill>
                <a:latin typeface="Arial"/>
              </a:rPr>
              <a:t>12</a:t>
            </a:r>
            <a:endParaRPr/>
          </a:p>
        </p:txBody>
      </p:sp>
      <p:sp>
        <p:nvSpPr>
          <p:cNvPr id="194319382" name="Rounded Rectangle 6"/>
          <p:cNvSpPr/>
          <p:nvPr/>
        </p:nvSpPr>
        <p:spPr bwMode="auto">
          <a:xfrm>
            <a:off x="731520" y="1371600"/>
            <a:ext cx="5257800" cy="338328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1514971" name="TextBox 7"/>
          <p:cNvSpPr txBox="1"/>
          <p:nvPr/>
        </p:nvSpPr>
        <p:spPr bwMode="auto">
          <a:xfrm>
            <a:off x="1005840" y="1645920"/>
            <a:ext cx="466344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1700" b="1" i="0">
                <a:solidFill>
                  <a:srgbClr val="BE192D"/>
                </a:solidFill>
                <a:latin typeface="Arial"/>
              </a:rPr>
              <a:t>Evite imprimir diretamente</a:t>
            </a:r>
            <a:endParaRPr/>
          </a:p>
        </p:txBody>
      </p:sp>
      <p:sp>
        <p:nvSpPr>
          <p:cNvPr id="432970591" name="Rounded Rectangle 8"/>
          <p:cNvSpPr/>
          <p:nvPr/>
        </p:nvSpPr>
        <p:spPr bwMode="auto">
          <a:xfrm>
            <a:off x="960120" y="2240280"/>
            <a:ext cx="4800600" cy="1005840"/>
          </a:xfrm>
          <a:prstGeom prst="roundRect">
            <a:avLst>
              <a:gd name="adj" fmla="val 12000"/>
            </a:avLst>
          </a:prstGeom>
          <a:solidFill>
            <a:srgbClr val="202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2553256" name="TextBox 9"/>
          <p:cNvSpPr txBox="1"/>
          <p:nvPr/>
        </p:nvSpPr>
        <p:spPr bwMode="auto">
          <a:xfrm>
            <a:off x="1124712" y="2359152"/>
            <a:ext cx="4471416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/>
            </a:pPr>
            <a:r>
              <a:rPr sz="1600">
                <a:solidFill>
                  <a:srgbClr val="EBEEF2"/>
                </a:solidFill>
                <a:latin typeface="Consolas"/>
              </a:rPr>
              <a:t>echo $_POST['nome'];</a:t>
            </a:r>
            <a:endParaRPr/>
          </a:p>
        </p:txBody>
      </p:sp>
      <p:sp>
        <p:nvSpPr>
          <p:cNvPr id="2085829208" name="TextBox 10"/>
          <p:cNvSpPr txBox="1"/>
          <p:nvPr/>
        </p:nvSpPr>
        <p:spPr bwMode="auto">
          <a:xfrm>
            <a:off x="1005840" y="3566160"/>
            <a:ext cx="4663798" cy="92390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50000"/>
              </a:lnSpc>
              <a:spcAft>
                <a:spcPts val="700"/>
              </a:spcAft>
              <a:defRPr/>
            </a:pPr>
            <a:r>
              <a:rPr sz="1700" b="0" i="0">
                <a:solidFill>
                  <a:srgbClr val="23262A"/>
                </a:solidFill>
                <a:latin typeface="Arial"/>
              </a:rPr>
              <a:t>O texto pode conter caracteres HTML inesperados.</a:t>
            </a:r>
            <a:endParaRPr/>
          </a:p>
        </p:txBody>
      </p:sp>
      <p:sp>
        <p:nvSpPr>
          <p:cNvPr id="721622251" name="Rounded Rectangle 11"/>
          <p:cNvSpPr/>
          <p:nvPr/>
        </p:nvSpPr>
        <p:spPr bwMode="auto">
          <a:xfrm>
            <a:off x="6217920" y="1371600"/>
            <a:ext cx="5257800" cy="3383280"/>
          </a:xfrm>
          <a:prstGeom prst="roundRect">
            <a:avLst>
              <a:gd name="adj" fmla="val 12000"/>
            </a:avLst>
          </a:prstGeom>
          <a:solidFill>
            <a:srgbClr val="FC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0398282" name="TextBox 12"/>
          <p:cNvSpPr txBox="1"/>
          <p:nvPr/>
        </p:nvSpPr>
        <p:spPr bwMode="auto">
          <a:xfrm>
            <a:off x="6492240" y="1645920"/>
            <a:ext cx="466344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1700" b="1" i="0">
                <a:solidFill>
                  <a:srgbClr val="1E7D50"/>
                </a:solidFill>
                <a:latin typeface="Arial"/>
              </a:rPr>
              <a:t>Prefira escapar para HTML</a:t>
            </a:r>
            <a:endParaRPr/>
          </a:p>
        </p:txBody>
      </p:sp>
      <p:sp>
        <p:nvSpPr>
          <p:cNvPr id="273008066" name="Rounded Rectangle 13"/>
          <p:cNvSpPr/>
          <p:nvPr/>
        </p:nvSpPr>
        <p:spPr bwMode="auto">
          <a:xfrm>
            <a:off x="6446520" y="2240280"/>
            <a:ext cx="4800600" cy="1325880"/>
          </a:xfrm>
          <a:prstGeom prst="roundRect">
            <a:avLst>
              <a:gd name="adj" fmla="val 12000"/>
            </a:avLst>
          </a:prstGeom>
          <a:solidFill>
            <a:srgbClr val="202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6089041" name="TextBox 14"/>
          <p:cNvSpPr txBox="1"/>
          <p:nvPr/>
        </p:nvSpPr>
        <p:spPr bwMode="auto">
          <a:xfrm>
            <a:off x="6611112" y="2359152"/>
            <a:ext cx="4471776" cy="10112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Aft>
                <a:spcPts val="200"/>
              </a:spcAft>
              <a:defRPr/>
            </a:pPr>
            <a:r>
              <a:rPr sz="1400">
                <a:solidFill>
                  <a:srgbClr val="EBEEF2"/>
                </a:solidFill>
                <a:latin typeface="Consolas"/>
              </a:rPr>
              <a:t>echo htmlspecialchars(</a:t>
            </a: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/>
            </a:pPr>
            <a:r>
              <a:rPr sz="1400">
                <a:solidFill>
                  <a:srgbClr val="EBEEF2"/>
                </a:solidFill>
                <a:latin typeface="Consolas"/>
              </a:rPr>
              <a:t>  $nome, ENT_QUOTES, 'UTF-8'</a:t>
            </a: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/>
            </a:pPr>
            <a:r>
              <a:rPr sz="1400">
                <a:solidFill>
                  <a:srgbClr val="EBEEF2"/>
                </a:solidFill>
                <a:latin typeface="Consolas"/>
              </a:rPr>
              <a:t>);</a:t>
            </a:r>
            <a:endParaRPr/>
          </a:p>
        </p:txBody>
      </p:sp>
      <p:sp>
        <p:nvSpPr>
          <p:cNvPr id="1250163914" name="TextBox 15"/>
          <p:cNvSpPr txBox="1"/>
          <p:nvPr/>
        </p:nvSpPr>
        <p:spPr bwMode="auto">
          <a:xfrm>
            <a:off x="6492240" y="3794760"/>
            <a:ext cx="4663798" cy="87818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50000"/>
              </a:lnSpc>
              <a:spcAft>
                <a:spcPts val="700"/>
              </a:spcAft>
              <a:defRPr/>
            </a:pPr>
            <a:r>
              <a:rPr sz="1600" b="0" i="0">
                <a:solidFill>
                  <a:srgbClr val="23262A"/>
                </a:solidFill>
                <a:latin typeface="Arial"/>
              </a:rPr>
              <a:t>Isso reduz o risco de injeção de HTML/JavaScript na página.</a:t>
            </a:r>
            <a:endParaRPr/>
          </a:p>
        </p:txBody>
      </p:sp>
      <p:sp>
        <p:nvSpPr>
          <p:cNvPr id="1440254634" name="TextBox 16"/>
          <p:cNvSpPr txBox="1"/>
          <p:nvPr/>
        </p:nvSpPr>
        <p:spPr bwMode="auto">
          <a:xfrm>
            <a:off x="914400" y="5257800"/>
            <a:ext cx="102412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1700" b="1" i="0">
                <a:solidFill>
                  <a:srgbClr val="BE192D"/>
                </a:solidFill>
                <a:latin typeface="Arial"/>
              </a:rPr>
              <a:t>Para login, também são necessários HTTPS, senhas com hash e outras proteções.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6901487" name="Rectangle 1"/>
          <p:cNvSpPr/>
          <p:nvPr/>
        </p:nvSpPr>
        <p:spPr bwMode="auto">
          <a:xfrm>
            <a:off x="0" y="0"/>
            <a:ext cx="12191695" cy="1463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5856910" name="TextBox 2"/>
          <p:cNvSpPr txBox="1"/>
          <p:nvPr/>
        </p:nvSpPr>
        <p:spPr bwMode="auto">
          <a:xfrm>
            <a:off x="411480" y="256032"/>
            <a:ext cx="11338560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800" b="1" i="0">
                <a:solidFill>
                  <a:srgbClr val="23262A"/>
                </a:solidFill>
                <a:latin typeface="Arial Black"/>
              </a:rPr>
              <a:t>Atividade de fixação: cadastro de aluno</a:t>
            </a:r>
            <a:endParaRPr/>
          </a:p>
        </p:txBody>
      </p:sp>
      <p:sp>
        <p:nvSpPr>
          <p:cNvPr id="967701443" name="Rectangle 3"/>
          <p:cNvSpPr/>
          <p:nvPr/>
        </p:nvSpPr>
        <p:spPr bwMode="auto">
          <a:xfrm>
            <a:off x="502920" y="932688"/>
            <a:ext cx="11183112" cy="320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7431723" name="TextBox 4"/>
          <p:cNvSpPr txBox="1"/>
          <p:nvPr/>
        </p:nvSpPr>
        <p:spPr bwMode="auto"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900" b="1" i="0">
                <a:solidFill>
                  <a:srgbClr val="646970"/>
                </a:solidFill>
                <a:latin typeface="Arial"/>
              </a:rPr>
              <a:t>PHP • ENTRADA DE DADOS</a:t>
            </a:r>
            <a:endParaRPr/>
          </a:p>
        </p:txBody>
      </p:sp>
      <p:sp>
        <p:nvSpPr>
          <p:cNvPr id="387963168" name="TextBox 5"/>
          <p:cNvSpPr txBox="1"/>
          <p:nvPr/>
        </p:nvSpPr>
        <p:spPr bwMode="auto">
          <a:xfrm>
            <a:off x="10698480" y="6492240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  <a:spcAft>
                <a:spcPts val="700"/>
              </a:spcAft>
              <a:defRPr/>
            </a:pPr>
            <a:r>
              <a:rPr sz="900" b="0" i="0">
                <a:solidFill>
                  <a:srgbClr val="646970"/>
                </a:solidFill>
                <a:latin typeface="Arial"/>
              </a:rPr>
              <a:t>13</a:t>
            </a:r>
            <a:endParaRPr/>
          </a:p>
        </p:txBody>
      </p:sp>
      <p:sp>
        <p:nvSpPr>
          <p:cNvPr id="1408669277" name="TextBox 6"/>
          <p:cNvSpPr txBox="1"/>
          <p:nvPr/>
        </p:nvSpPr>
        <p:spPr bwMode="auto">
          <a:xfrm>
            <a:off x="731520" y="1234440"/>
            <a:ext cx="1078992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1800" b="1" i="0">
                <a:solidFill>
                  <a:srgbClr val="BE192D"/>
                </a:solidFill>
                <a:latin typeface="Arial"/>
              </a:rPr>
              <a:t>Em duplas • Criem um formulário HTML e processem os dados com PHP.</a:t>
            </a:r>
            <a:endParaRPr/>
          </a:p>
        </p:txBody>
      </p:sp>
      <p:sp>
        <p:nvSpPr>
          <p:cNvPr id="815637566" name="Rounded Rectangle 7"/>
          <p:cNvSpPr/>
          <p:nvPr/>
        </p:nvSpPr>
        <p:spPr bwMode="auto">
          <a:xfrm>
            <a:off x="868680" y="1828800"/>
            <a:ext cx="320040" cy="320040"/>
          </a:xfrm>
          <a:prstGeom prst="roundRect">
            <a:avLst>
              <a:gd name="adj" fmla="val 12000"/>
            </a:avLst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18148516" name="TextBox 8"/>
          <p:cNvSpPr txBox="1"/>
          <p:nvPr/>
        </p:nvSpPr>
        <p:spPr bwMode="auto">
          <a:xfrm>
            <a:off x="1325880" y="1810512"/>
            <a:ext cx="9784079" cy="4754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1900" b="0" i="0">
                <a:solidFill>
                  <a:srgbClr val="23262A"/>
                </a:solidFill>
                <a:latin typeface="Arial"/>
              </a:rPr>
              <a:t>1. Solicite nome, e-mail e duas notas (0 a 10).</a:t>
            </a:r>
            <a:endParaRPr/>
          </a:p>
        </p:txBody>
      </p:sp>
      <p:sp>
        <p:nvSpPr>
          <p:cNvPr id="537734331" name="Rounded Rectangle 9"/>
          <p:cNvSpPr/>
          <p:nvPr/>
        </p:nvSpPr>
        <p:spPr bwMode="auto">
          <a:xfrm>
            <a:off x="868680" y="2523744"/>
            <a:ext cx="320040" cy="320040"/>
          </a:xfrm>
          <a:prstGeom prst="roundRect">
            <a:avLst>
              <a:gd name="adj" fmla="val 12000"/>
            </a:avLst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8819201" name="TextBox 10"/>
          <p:cNvSpPr txBox="1"/>
          <p:nvPr/>
        </p:nvSpPr>
        <p:spPr bwMode="auto">
          <a:xfrm>
            <a:off x="1325880" y="2505456"/>
            <a:ext cx="9784079" cy="4754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1900" b="0" i="0">
                <a:solidFill>
                  <a:srgbClr val="23262A"/>
                </a:solidFill>
                <a:latin typeface="Arial"/>
              </a:rPr>
              <a:t>2. Envie os dados usando o método POST.</a:t>
            </a:r>
            <a:endParaRPr/>
          </a:p>
        </p:txBody>
      </p:sp>
      <p:sp>
        <p:nvSpPr>
          <p:cNvPr id="95021041" name="Rounded Rectangle 11"/>
          <p:cNvSpPr/>
          <p:nvPr/>
        </p:nvSpPr>
        <p:spPr bwMode="auto">
          <a:xfrm>
            <a:off x="868680" y="3218688"/>
            <a:ext cx="320040" cy="320040"/>
          </a:xfrm>
          <a:prstGeom prst="roundRect">
            <a:avLst>
              <a:gd name="adj" fmla="val 12000"/>
            </a:avLst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3430543" name="TextBox 12"/>
          <p:cNvSpPr txBox="1"/>
          <p:nvPr/>
        </p:nvSpPr>
        <p:spPr bwMode="auto">
          <a:xfrm>
            <a:off x="1325880" y="3200400"/>
            <a:ext cx="9784079" cy="4754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1900" b="0" i="0">
                <a:solidFill>
                  <a:srgbClr val="23262A"/>
                </a:solidFill>
                <a:latin typeface="Arial"/>
              </a:rPr>
              <a:t>3. Valide campos vazios e notas fora do intervalo.</a:t>
            </a:r>
            <a:endParaRPr/>
          </a:p>
        </p:txBody>
      </p:sp>
      <p:sp>
        <p:nvSpPr>
          <p:cNvPr id="1599069772" name="Rounded Rectangle 13"/>
          <p:cNvSpPr/>
          <p:nvPr/>
        </p:nvSpPr>
        <p:spPr bwMode="auto">
          <a:xfrm>
            <a:off x="868680" y="3913632"/>
            <a:ext cx="320040" cy="320040"/>
          </a:xfrm>
          <a:prstGeom prst="roundRect">
            <a:avLst>
              <a:gd name="adj" fmla="val 12000"/>
            </a:avLst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2906115" name="TextBox 14"/>
          <p:cNvSpPr txBox="1"/>
          <p:nvPr/>
        </p:nvSpPr>
        <p:spPr bwMode="auto">
          <a:xfrm>
            <a:off x="1325880" y="3895343"/>
            <a:ext cx="9784079" cy="4754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1900" b="0" i="0">
                <a:solidFill>
                  <a:srgbClr val="23262A"/>
                </a:solidFill>
                <a:latin typeface="Arial"/>
              </a:rPr>
              <a:t>4. Calcule a média e mostre Aprovado (média ≥ 7) ou Reprovado.</a:t>
            </a:r>
            <a:endParaRPr/>
          </a:p>
        </p:txBody>
      </p:sp>
      <p:sp>
        <p:nvSpPr>
          <p:cNvPr id="2133623475" name="Rounded Rectangle 15"/>
          <p:cNvSpPr/>
          <p:nvPr/>
        </p:nvSpPr>
        <p:spPr bwMode="auto">
          <a:xfrm>
            <a:off x="868680" y="4608576"/>
            <a:ext cx="320040" cy="320040"/>
          </a:xfrm>
          <a:prstGeom prst="roundRect">
            <a:avLst>
              <a:gd name="adj" fmla="val 12000"/>
            </a:avLst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2172393" name="TextBox 16"/>
          <p:cNvSpPr txBox="1"/>
          <p:nvPr/>
        </p:nvSpPr>
        <p:spPr bwMode="auto">
          <a:xfrm>
            <a:off x="1325880" y="4590288"/>
            <a:ext cx="9784079" cy="4754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1900" b="0" i="0">
                <a:solidFill>
                  <a:srgbClr val="23262A"/>
                </a:solidFill>
                <a:latin typeface="Arial"/>
              </a:rPr>
              <a:t>5. Exiba o nome com segurança usando htmlspecialchars().</a:t>
            </a:r>
            <a:endParaRPr/>
          </a:p>
        </p:txBody>
      </p:sp>
      <p:sp>
        <p:nvSpPr>
          <p:cNvPr id="2080800521" name="Rounded Rectangle 17"/>
          <p:cNvSpPr/>
          <p:nvPr/>
        </p:nvSpPr>
        <p:spPr bwMode="auto">
          <a:xfrm>
            <a:off x="914400" y="5532120"/>
            <a:ext cx="10287000" cy="566928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7179514" name="TextBox 18"/>
          <p:cNvSpPr txBox="1"/>
          <p:nvPr/>
        </p:nvSpPr>
        <p:spPr bwMode="auto">
          <a:xfrm>
            <a:off x="1097280" y="5650992"/>
            <a:ext cx="992124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1600" b="1" i="0">
                <a:solidFill>
                  <a:srgbClr val="646970"/>
                </a:solidFill>
                <a:latin typeface="Arial"/>
              </a:rPr>
              <a:t>Entrega: arquivos index.html e processa.php (ou um único arquivo PHP).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3004394" name="Rectangle 1"/>
          <p:cNvSpPr/>
          <p:nvPr/>
        </p:nvSpPr>
        <p:spPr bwMode="auto">
          <a:xfrm>
            <a:off x="0" y="0"/>
            <a:ext cx="12191695" cy="1463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1566165" name="TextBox 2"/>
          <p:cNvSpPr txBox="1"/>
          <p:nvPr/>
        </p:nvSpPr>
        <p:spPr bwMode="auto">
          <a:xfrm>
            <a:off x="411480" y="256032"/>
            <a:ext cx="11338560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800" b="1" i="0">
                <a:solidFill>
                  <a:srgbClr val="23262A"/>
                </a:solidFill>
                <a:latin typeface="Arial Black"/>
              </a:rPr>
              <a:t>Desafio extra: pesquisa de produtos</a:t>
            </a:r>
            <a:endParaRPr/>
          </a:p>
        </p:txBody>
      </p:sp>
      <p:sp>
        <p:nvSpPr>
          <p:cNvPr id="1964802938" name="Rectangle 3"/>
          <p:cNvSpPr/>
          <p:nvPr/>
        </p:nvSpPr>
        <p:spPr bwMode="auto">
          <a:xfrm>
            <a:off x="502920" y="932688"/>
            <a:ext cx="11183112" cy="320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5022561" name="TextBox 4"/>
          <p:cNvSpPr txBox="1"/>
          <p:nvPr/>
        </p:nvSpPr>
        <p:spPr bwMode="auto"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900" b="1" i="0">
                <a:solidFill>
                  <a:srgbClr val="646970"/>
                </a:solidFill>
                <a:latin typeface="Arial"/>
              </a:rPr>
              <a:t>PHP • ENTRADA DE DADOS</a:t>
            </a:r>
            <a:endParaRPr/>
          </a:p>
        </p:txBody>
      </p:sp>
      <p:sp>
        <p:nvSpPr>
          <p:cNvPr id="209710236" name="TextBox 5"/>
          <p:cNvSpPr txBox="1"/>
          <p:nvPr/>
        </p:nvSpPr>
        <p:spPr bwMode="auto">
          <a:xfrm>
            <a:off x="10698480" y="6492240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  <a:spcAft>
                <a:spcPts val="700"/>
              </a:spcAft>
              <a:defRPr/>
            </a:pPr>
            <a:r>
              <a:rPr sz="900" b="0" i="0">
                <a:solidFill>
                  <a:srgbClr val="646970"/>
                </a:solidFill>
                <a:latin typeface="Arial"/>
              </a:rPr>
              <a:t>14</a:t>
            </a:r>
            <a:endParaRPr/>
          </a:p>
        </p:txBody>
      </p:sp>
      <p:sp>
        <p:nvSpPr>
          <p:cNvPr id="1500421106" name="TextBox 6"/>
          <p:cNvSpPr txBox="1"/>
          <p:nvPr/>
        </p:nvSpPr>
        <p:spPr bwMode="auto">
          <a:xfrm>
            <a:off x="822960" y="1280160"/>
            <a:ext cx="1051560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100" b="1" i="0">
                <a:solidFill>
                  <a:srgbClr val="23262A"/>
                </a:solidFill>
                <a:latin typeface="Arial"/>
              </a:rPr>
              <a:t>Crie um campo de busca que envie o termo por GET.</a:t>
            </a:r>
            <a:endParaRPr/>
          </a:p>
        </p:txBody>
      </p:sp>
      <p:sp>
        <p:nvSpPr>
          <p:cNvPr id="2135806175" name="Rounded Rectangle 7"/>
          <p:cNvSpPr/>
          <p:nvPr/>
        </p:nvSpPr>
        <p:spPr bwMode="auto">
          <a:xfrm>
            <a:off x="1005840" y="2011680"/>
            <a:ext cx="4937760" cy="2194560"/>
          </a:xfrm>
          <a:prstGeom prst="roundRect">
            <a:avLst>
              <a:gd name="adj" fmla="val 12000"/>
            </a:avLst>
          </a:prstGeom>
          <a:solidFill>
            <a:srgbClr val="202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60614906" name="TextBox 8"/>
          <p:cNvSpPr txBox="1"/>
          <p:nvPr/>
        </p:nvSpPr>
        <p:spPr bwMode="auto">
          <a:xfrm>
            <a:off x="1170432" y="2130552"/>
            <a:ext cx="4608934" cy="18164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Aft>
                <a:spcPts val="200"/>
              </a:spcAft>
              <a:defRPr/>
            </a:pPr>
            <a:r>
              <a:rPr sz="1500">
                <a:solidFill>
                  <a:srgbClr val="EBEEF2"/>
                </a:solidFill>
                <a:latin typeface="Consolas"/>
              </a:rPr>
              <a:t>&lt;form method="get"&gt;</a:t>
            </a: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/>
            </a:pPr>
            <a:r>
              <a:rPr sz="1500">
                <a:solidFill>
                  <a:srgbClr val="EBEEF2"/>
                </a:solidFill>
                <a:latin typeface="Consolas"/>
              </a:rPr>
              <a:t>  &lt;label for="q"&gt;Produto:&lt;/label&gt;</a:t>
            </a: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/>
            </a:pPr>
            <a:r>
              <a:rPr sz="1500">
                <a:solidFill>
                  <a:srgbClr val="EBEEF2"/>
                </a:solidFill>
                <a:latin typeface="Consolas"/>
              </a:rPr>
              <a:t>  &lt;input id="q" name="q" type="search"&gt;</a:t>
            </a: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/>
            </a:pPr>
            <a:r>
              <a:rPr sz="1500">
                <a:solidFill>
                  <a:srgbClr val="EBEEF2"/>
                </a:solidFill>
                <a:latin typeface="Consolas"/>
              </a:rPr>
              <a:t>  &lt;button&gt;Pesquisar&lt;/button&gt;</a:t>
            </a: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/>
            </a:pPr>
            <a:r>
              <a:rPr sz="1500">
                <a:solidFill>
                  <a:srgbClr val="EBEEF2"/>
                </a:solidFill>
                <a:latin typeface="Consolas"/>
              </a:rPr>
              <a:t>&lt;/form&gt;</a:t>
            </a:r>
            <a:endParaRPr/>
          </a:p>
        </p:txBody>
      </p:sp>
      <p:sp>
        <p:nvSpPr>
          <p:cNvPr id="201097642" name="Rounded Rectangle 9"/>
          <p:cNvSpPr/>
          <p:nvPr/>
        </p:nvSpPr>
        <p:spPr bwMode="auto">
          <a:xfrm>
            <a:off x="6309360" y="2011680"/>
            <a:ext cx="4754880" cy="219456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937959" name="TextBox 10"/>
          <p:cNvSpPr txBox="1"/>
          <p:nvPr/>
        </p:nvSpPr>
        <p:spPr bwMode="auto">
          <a:xfrm>
            <a:off x="6583680" y="2331720"/>
            <a:ext cx="420624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1800" b="1" i="0">
                <a:solidFill>
                  <a:srgbClr val="BE192D"/>
                </a:solidFill>
                <a:latin typeface="Arial"/>
              </a:rPr>
              <a:t>Critérios de sucesso</a:t>
            </a:r>
            <a:endParaRPr/>
          </a:p>
        </p:txBody>
      </p:sp>
      <p:sp>
        <p:nvSpPr>
          <p:cNvPr id="1101854603" name="TextBox 11"/>
          <p:cNvSpPr txBox="1"/>
          <p:nvPr/>
        </p:nvSpPr>
        <p:spPr bwMode="auto">
          <a:xfrm>
            <a:off x="6583680" y="2834640"/>
            <a:ext cx="4160519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1500" b="0" i="0">
                <a:solidFill>
                  <a:srgbClr val="23262A"/>
                </a:solidFill>
                <a:latin typeface="Arial"/>
              </a:rPr>
              <a:t>• A URL mostra o parâmetro q.</a:t>
            </a:r>
            <a:endParaRPr/>
          </a:p>
        </p:txBody>
      </p:sp>
      <p:sp>
        <p:nvSpPr>
          <p:cNvPr id="229377348" name="TextBox 12"/>
          <p:cNvSpPr txBox="1"/>
          <p:nvPr/>
        </p:nvSpPr>
        <p:spPr bwMode="auto">
          <a:xfrm>
            <a:off x="6583680" y="3246120"/>
            <a:ext cx="4160519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1500" b="0" i="0">
                <a:solidFill>
                  <a:srgbClr val="23262A"/>
                </a:solidFill>
                <a:latin typeface="Arial"/>
              </a:rPr>
              <a:t>• PHP lê o valor de $_GET.</a:t>
            </a:r>
            <a:endParaRPr/>
          </a:p>
        </p:txBody>
      </p:sp>
      <p:sp>
        <p:nvSpPr>
          <p:cNvPr id="1119209468" name="TextBox 13"/>
          <p:cNvSpPr txBox="1"/>
          <p:nvPr/>
        </p:nvSpPr>
        <p:spPr bwMode="auto">
          <a:xfrm>
            <a:off x="6583680" y="3657600"/>
            <a:ext cx="4160519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1500" b="0" i="0">
                <a:solidFill>
                  <a:srgbClr val="23262A"/>
                </a:solidFill>
                <a:latin typeface="Arial"/>
              </a:rPr>
              <a:t>• A página trata busca vazia.</a:t>
            </a:r>
            <a:endParaRPr/>
          </a:p>
        </p:txBody>
      </p:sp>
      <p:sp>
        <p:nvSpPr>
          <p:cNvPr id="77909230" name="TextBox 14"/>
          <p:cNvSpPr txBox="1"/>
          <p:nvPr/>
        </p:nvSpPr>
        <p:spPr bwMode="auto">
          <a:xfrm>
            <a:off x="914400" y="4892039"/>
            <a:ext cx="1033272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1800" b="1" i="0">
                <a:solidFill>
                  <a:srgbClr val="BE192D"/>
                </a:solidFill>
                <a:latin typeface="Arial"/>
              </a:rPr>
              <a:t>Pergunta crítica: o que aconteceria se o usuário enviasse uma busca vazia ou um texto com tags HTML?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812826" name="Rectangle 1"/>
          <p:cNvSpPr/>
          <p:nvPr/>
        </p:nvSpPr>
        <p:spPr bwMode="auto">
          <a:xfrm>
            <a:off x="0" y="0"/>
            <a:ext cx="12191695" cy="1463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5123824" name="TextBox 2"/>
          <p:cNvSpPr txBox="1"/>
          <p:nvPr/>
        </p:nvSpPr>
        <p:spPr bwMode="auto">
          <a:xfrm>
            <a:off x="411480" y="256032"/>
            <a:ext cx="11338560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  <a:defRPr/>
            </a:pPr>
            <a:r>
              <a:rPr sz="2800" b="1" i="0">
                <a:solidFill>
                  <a:srgbClr val="23262A"/>
                </a:solidFill>
                <a:latin typeface="Arial Black"/>
              </a:rPr>
              <a:t>Resumo da aula</a:t>
            </a:r>
            <a:endParaRPr/>
          </a:p>
        </p:txBody>
      </p:sp>
      <p:sp>
        <p:nvSpPr>
          <p:cNvPr id="934788716" name="Rectangle 3"/>
          <p:cNvSpPr/>
          <p:nvPr/>
        </p:nvSpPr>
        <p:spPr bwMode="auto">
          <a:xfrm>
            <a:off x="502920" y="932688"/>
            <a:ext cx="11183112" cy="320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9509127" name="TextBox 4"/>
          <p:cNvSpPr txBox="1"/>
          <p:nvPr/>
        </p:nvSpPr>
        <p:spPr bwMode="auto"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900" b="1" i="0">
                <a:solidFill>
                  <a:srgbClr val="646970"/>
                </a:solidFill>
                <a:latin typeface="Arial"/>
              </a:rPr>
              <a:t>PHP • ENTRADA DE DADOS</a:t>
            </a:r>
            <a:endParaRPr/>
          </a:p>
        </p:txBody>
      </p:sp>
      <p:sp>
        <p:nvSpPr>
          <p:cNvPr id="644324350" name="TextBox 5"/>
          <p:cNvSpPr txBox="1"/>
          <p:nvPr/>
        </p:nvSpPr>
        <p:spPr bwMode="auto">
          <a:xfrm>
            <a:off x="10698480" y="6492240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  <a:spcAft>
                <a:spcPts val="700"/>
              </a:spcAft>
              <a:defRPr/>
            </a:pPr>
            <a:r>
              <a:rPr sz="900" b="0" i="0">
                <a:solidFill>
                  <a:srgbClr val="646970"/>
                </a:solidFill>
                <a:latin typeface="Arial"/>
              </a:rPr>
              <a:t>15</a:t>
            </a:r>
            <a:endParaRPr/>
          </a:p>
        </p:txBody>
      </p:sp>
      <p:sp>
        <p:nvSpPr>
          <p:cNvPr id="1391881298" name="TextBox 6"/>
          <p:cNvSpPr txBox="1"/>
          <p:nvPr/>
        </p:nvSpPr>
        <p:spPr bwMode="auto">
          <a:xfrm>
            <a:off x="731520" y="1234440"/>
            <a:ext cx="1078992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1800" b="1" i="0">
                <a:solidFill>
                  <a:srgbClr val="BE192D"/>
                </a:solidFill>
                <a:latin typeface="Arial"/>
              </a:rPr>
              <a:t>Próximo passo: gravar os dados validados em um banco de dados.</a:t>
            </a:r>
            <a:endParaRPr/>
          </a:p>
        </p:txBody>
      </p:sp>
      <p:sp>
        <p:nvSpPr>
          <p:cNvPr id="1064171515" name="Rounded Rectangle 7"/>
          <p:cNvSpPr/>
          <p:nvPr/>
        </p:nvSpPr>
        <p:spPr bwMode="auto">
          <a:xfrm>
            <a:off x="777240" y="1810512"/>
            <a:ext cx="146304" cy="146304"/>
          </a:xfrm>
          <a:prstGeom prst="roundRect">
            <a:avLst>
              <a:gd name="adj" fmla="val 12000"/>
            </a:avLst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6331730" name="TextBox 8"/>
          <p:cNvSpPr txBox="1"/>
          <p:nvPr/>
        </p:nvSpPr>
        <p:spPr bwMode="auto">
          <a:xfrm>
            <a:off x="1078992" y="1737360"/>
            <a:ext cx="100584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2200" b="0" i="0">
                <a:solidFill>
                  <a:srgbClr val="23262A"/>
                </a:solidFill>
                <a:latin typeface="Arial"/>
              </a:rPr>
              <a:t>HTML coleta os dados; o navegador envia uma requisição.</a:t>
            </a:r>
            <a:endParaRPr/>
          </a:p>
        </p:txBody>
      </p:sp>
      <p:sp>
        <p:nvSpPr>
          <p:cNvPr id="1226021354" name="Rounded Rectangle 9"/>
          <p:cNvSpPr/>
          <p:nvPr/>
        </p:nvSpPr>
        <p:spPr bwMode="auto">
          <a:xfrm>
            <a:off x="777240" y="2615184"/>
            <a:ext cx="146304" cy="146304"/>
          </a:xfrm>
          <a:prstGeom prst="roundRect">
            <a:avLst>
              <a:gd name="adj" fmla="val 12000"/>
            </a:avLst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8300328" name="TextBox 10"/>
          <p:cNvSpPr txBox="1"/>
          <p:nvPr/>
        </p:nvSpPr>
        <p:spPr bwMode="auto">
          <a:xfrm>
            <a:off x="1078992" y="2542032"/>
            <a:ext cx="100584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2200" b="0" i="0">
                <a:solidFill>
                  <a:srgbClr val="23262A"/>
                </a:solidFill>
                <a:latin typeface="Arial"/>
              </a:rPr>
              <a:t>PHP recebe os valores com $_GET ou $_POST.</a:t>
            </a:r>
            <a:endParaRPr/>
          </a:p>
        </p:txBody>
      </p:sp>
      <p:sp>
        <p:nvSpPr>
          <p:cNvPr id="599645907" name="Rounded Rectangle 11"/>
          <p:cNvSpPr/>
          <p:nvPr/>
        </p:nvSpPr>
        <p:spPr bwMode="auto">
          <a:xfrm>
            <a:off x="777240" y="3419856"/>
            <a:ext cx="146304" cy="146304"/>
          </a:xfrm>
          <a:prstGeom prst="roundRect">
            <a:avLst>
              <a:gd name="adj" fmla="val 12000"/>
            </a:avLst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451871" name="TextBox 12"/>
          <p:cNvSpPr txBox="1"/>
          <p:nvPr/>
        </p:nvSpPr>
        <p:spPr bwMode="auto">
          <a:xfrm>
            <a:off x="1078992" y="3346704"/>
            <a:ext cx="100584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2200" b="0" i="0">
                <a:solidFill>
                  <a:srgbClr val="23262A"/>
                </a:solidFill>
                <a:latin typeface="Arial"/>
              </a:rPr>
              <a:t>Valide os dados no servidor antes de calcular ou salvar.</a:t>
            </a:r>
            <a:endParaRPr/>
          </a:p>
        </p:txBody>
      </p:sp>
      <p:sp>
        <p:nvSpPr>
          <p:cNvPr id="1987718122" name="Rounded Rectangle 13"/>
          <p:cNvSpPr/>
          <p:nvPr/>
        </p:nvSpPr>
        <p:spPr bwMode="auto">
          <a:xfrm>
            <a:off x="777240" y="4224528"/>
            <a:ext cx="146304" cy="146304"/>
          </a:xfrm>
          <a:prstGeom prst="roundRect">
            <a:avLst>
              <a:gd name="adj" fmla="val 12000"/>
            </a:avLst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4041757" name="TextBox 14"/>
          <p:cNvSpPr txBox="1"/>
          <p:nvPr/>
        </p:nvSpPr>
        <p:spPr bwMode="auto">
          <a:xfrm>
            <a:off x="1078992" y="4151376"/>
            <a:ext cx="100584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/>
            </a:pPr>
            <a:r>
              <a:rPr sz="2200" b="0" i="0">
                <a:solidFill>
                  <a:srgbClr val="23262A"/>
                </a:solidFill>
                <a:latin typeface="Arial"/>
              </a:rPr>
              <a:t>Use htmlspecialchars() ao exibir texto enviado pelo usuário.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ONLYOFFICE/10.0.0.169</Application>
  <PresentationFormat>On-screen Show (4:3)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 — Entrada de Dados</dc:title>
  <dc:subject>Aula introdutória de Programação Web</dc:subject>
  <dc:creator>Prof. Marcelo Hugo</dc:creator>
  <cp:keywords>PHP, GET, POST, formulários, validação, ETEC, Centro Paula Souza</cp:keywords>
  <dc:description>generated using python-pptx</dc:description>
  <cp:lastModifiedBy/>
  <cp:revision>3</cp:revision>
  <dcterms:created xsi:type="dcterms:W3CDTF">2013-01-27T09:14:16Z</dcterms:created>
  <dcterms:modified xsi:type="dcterms:W3CDTF">2026-10-22T16:17:46Z</dcterms:modified>
  <cp:category/>
</cp:coreProperties>
</file>