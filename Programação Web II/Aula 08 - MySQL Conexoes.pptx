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4832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95386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174AEB10-B0CC-21EC-4CF4-31EACF1DBC08}" type="datetimeFigureOut">
              <a:rPr lang="en-US"/>
              <a:t/>
            </a:fld>
            <a:endParaRPr/>
          </a:p>
        </p:txBody>
      </p:sp>
      <p:sp>
        <p:nvSpPr>
          <p:cNvPr id="189358576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0629923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492AD1E4-E621-BAEB-D701-A06F81CE10F2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1157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78101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6200" y="0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082C60C1-D810-F87D-B2BD-E9F598BF1F62}" type="datetimeFigureOut">
              <a:rPr lang="en-US"/>
              <a:t/>
            </a:fld>
            <a:endParaRPr/>
          </a:p>
        </p:txBody>
      </p:sp>
      <p:sp>
        <p:nvSpPr>
          <p:cNvPr id="200000227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799" y="47434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12598916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9140435" name="Slide Image Placeholder 3"/>
          <p:cNvSpPr>
            <a:spLocks noGrp="1"/>
          </p:cNvSpPr>
          <p:nvPr>
            <p:ph type="sldImg" sz="quarter" idx="2"/>
          </p:nvPr>
        </p:nvSpPr>
        <p:spPr bwMode="auto">
          <a:xfrm>
            <a:off x="685868" y="1143000"/>
            <a:ext cx="5486262" cy="3086100"/>
          </a:xfrm>
          <a:prstGeom prst="rect">
            <a:avLst/>
          </a:prstGeom>
          <a:ln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>
              <a:defRPr/>
            </a:pPr>
            <a:endParaRPr/>
          </a:p>
        </p:txBody>
      </p:sp>
      <p:sp>
        <p:nvSpPr>
          <p:cNvPr id="881449044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53AAC19D-35B8-031D-2E03-4373400E48CD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95633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93440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46589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7744B1F-26CB-83B7-8AAF-7E0F023C23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80260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6781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9973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3C5C259-E6C2-563E-392D-58ED033120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01828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3611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00612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1DF4FC0-0CDD-5883-BA32-B11B16F51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6801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10262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61660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F53459F-2AAB-D36E-C2DF-2EC460BAE1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49298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1475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512979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7BE396F-87D5-B778-19F8-3773E6262D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582991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63359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25511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D712945-CF7F-402B-9CA3-6843F64B7B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16811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37788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048700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CD6AACB-D98C-33A4-A9DF-27A6A5F56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093319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45618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77078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C9BD9F7-08DF-112C-2B35-DD8255017C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31112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55664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147342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3383213-C097-E5CB-1E19-6D51477829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622815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1063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42452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5E0DD32-93EC-E028-2810-F6FFCD3C72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17669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48558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13227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763DA30-FE04-B3E2-E76E-C546175486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96999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43805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12969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7E78C6D-3EE7-35B9-95F3-B40E4B2440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186236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10362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067674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3E25ED8-2946-A158-AE83-6EAD9C967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4996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26477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33424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A0550E6-A472-9D2B-BF7E-7217D16CE0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68311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84093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5949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608F20A-9699-BA60-594F-FB91C830A2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543921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17894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98417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BBE9DB5-8BAE-AB2B-6592-64AB246179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7570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038190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63935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6EFDAFF-7B00-0739-CCFA-48B75D95B7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3579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9503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601206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4B56010-F6B4-67E8-E098-410BA0B113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61291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1406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848871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A8A1890-7358-BDB4-39AB-F0612E401C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41701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23806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957504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801A5CB-9631-97D2-D55E-5153281B64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929296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676394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73782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D3FB72E-A407-54BE-0FBD-24FAA97625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656685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07690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12934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8548F95-A59D-04BF-3E51-A538BECF8F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90762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66083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49249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EB46CCE-A5DD-A69D-2F2D-2618E02730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85915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94985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792490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628986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44745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9915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33278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5609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97145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0740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7387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44774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1552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60036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3065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581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54426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96323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80420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683592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6158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62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28087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07554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68141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80561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40242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05949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909856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7392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523267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45598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5006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8640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3212186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16199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6622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796708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69992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05005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700176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37599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2952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36724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8601683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0385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266768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94339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326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956493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68256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21995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0614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9739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31157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29155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5757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0588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3628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14709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21509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864772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52595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725447" name="Rectangle 1"/>
          <p:cNvSpPr/>
          <p:nvPr/>
        </p:nvSpPr>
        <p:spPr bwMode="auto">
          <a:xfrm>
            <a:off x="0" y="0"/>
            <a:ext cx="3749039" cy="6858000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4693876" name="TextBox 2"/>
          <p:cNvSpPr txBox="1"/>
          <p:nvPr/>
        </p:nvSpPr>
        <p:spPr bwMode="auto">
          <a:xfrm>
            <a:off x="502920" y="109728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rPr/>
              <a:t>PHP</a:t>
            </a:r>
            <a:endParaRPr/>
          </a:p>
        </p:txBody>
      </p:sp>
      <p:sp>
        <p:nvSpPr>
          <p:cNvPr id="1319427848" name="TextBox 3"/>
          <p:cNvSpPr txBox="1"/>
          <p:nvPr/>
        </p:nvSpPr>
        <p:spPr bwMode="auto">
          <a:xfrm>
            <a:off x="502920" y="214884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rPr/>
              <a:t>PROGRAMACAO</a:t>
            </a:r>
            <a:endParaRPr/>
          </a:p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rPr/>
              <a:t>WEB II</a:t>
            </a:r>
            <a:endParaRPr/>
          </a:p>
        </p:txBody>
      </p:sp>
      <p:sp>
        <p:nvSpPr>
          <p:cNvPr id="1660611225" name="TextBox 4"/>
          <p:cNvSpPr txBox="1"/>
          <p:nvPr/>
        </p:nvSpPr>
        <p:spPr bwMode="auto">
          <a:xfrm>
            <a:off x="4251960" y="1417320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800" b="1">
                <a:solidFill>
                  <a:srgbClr val="23262A"/>
                </a:solidFill>
                <a:latin typeface="Arial Black"/>
              </a:defRPr>
            </a:pPr>
            <a:r>
              <a:rPr/>
              <a:t>PHP + MySQL</a:t>
            </a:r>
            <a:endParaRPr/>
          </a:p>
        </p:txBody>
      </p:sp>
      <p:sp>
        <p:nvSpPr>
          <p:cNvPr id="1616807091" name="TextBox 5"/>
          <p:cNvSpPr txBox="1"/>
          <p:nvPr/>
        </p:nvSpPr>
        <p:spPr bwMode="auto">
          <a:xfrm>
            <a:off x="4279392" y="246888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BE192D"/>
                </a:solidFill>
                <a:latin typeface="Arial"/>
              </a:defRPr>
            </a:pPr>
            <a:r>
              <a:rPr/>
              <a:t>Criando conexões com segurança</a:t>
            </a:r>
            <a:endParaRPr/>
          </a:p>
        </p:txBody>
      </p:sp>
      <p:sp>
        <p:nvSpPr>
          <p:cNvPr id="630874210" name="TextBox 6"/>
          <p:cNvSpPr txBox="1"/>
          <p:nvPr/>
        </p:nvSpPr>
        <p:spPr bwMode="auto">
          <a:xfrm>
            <a:off x="4279392" y="3657600"/>
            <a:ext cx="704088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646970"/>
                </a:solidFill>
                <a:latin typeface="Arial"/>
              </a:defRPr>
            </a:pPr>
            <a:r>
              <a:rPr/>
              <a:t>Do ambiente local à primeira consulta preparada</a:t>
            </a:r>
            <a:endParaRPr/>
          </a:p>
        </p:txBody>
      </p:sp>
      <p:sp>
        <p:nvSpPr>
          <p:cNvPr id="1289900189" name="TextBox 7"/>
          <p:cNvSpPr txBox="1"/>
          <p:nvPr/>
        </p:nvSpPr>
        <p:spPr bwMode="auto">
          <a:xfrm>
            <a:off x="4279392" y="6080760"/>
            <a:ext cx="70408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646970"/>
                </a:solidFill>
                <a:latin typeface="Arial"/>
              </a:defRPr>
            </a:pPr>
            <a:r>
              <a:rPr/>
              <a:t>Material didático • padrão visual inspirado no CPS/ETEC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137121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675115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Objetivos da aula</a:t>
            </a:r>
            <a:endParaRPr/>
          </a:p>
        </p:txBody>
      </p:sp>
      <p:sp>
        <p:nvSpPr>
          <p:cNvPr id="256833950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816756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6757506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255483206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2</a:t>
            </a:r>
            <a:endParaRPr/>
          </a:p>
        </p:txBody>
      </p:sp>
      <p:sp>
        <p:nvSpPr>
          <p:cNvPr id="456131591" name="TextBox 7"/>
          <p:cNvSpPr txBox="1"/>
          <p:nvPr/>
        </p:nvSpPr>
        <p:spPr bwMode="auto">
          <a:xfrm flipH="0" flipV="0">
            <a:off x="502920" y="1234439"/>
            <a:ext cx="7144499" cy="37534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Entender como PHP conversa com um banco de dados.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Preparar o ambiente e criar o banco vendas.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Conectar usando PDO e reconhecer o MySQLi.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Executar uma consulta com parâmetros.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Resolver uma atividade prática.</a:t>
            </a:r>
            <a:endParaRPr/>
          </a:p>
        </p:txBody>
      </p:sp>
      <p:sp>
        <p:nvSpPr>
          <p:cNvPr id="1322450940" name="Rounded Rectangle 8"/>
          <p:cNvSpPr/>
          <p:nvPr/>
        </p:nvSpPr>
        <p:spPr bwMode="auto">
          <a:xfrm>
            <a:off x="7818120" y="1417320"/>
            <a:ext cx="310896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AO FINAL, VOCÊ CONSEGUE</a:t>
            </a:r>
            <a:endParaRPr/>
          </a:p>
        </p:txBody>
      </p:sp>
      <p:sp>
        <p:nvSpPr>
          <p:cNvPr id="944291125" name="TextBox 9"/>
          <p:cNvSpPr txBox="1"/>
          <p:nvPr/>
        </p:nvSpPr>
        <p:spPr bwMode="auto">
          <a:xfrm>
            <a:off x="7818120" y="2148840"/>
            <a:ext cx="3291840" cy="22860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23262A"/>
                </a:solidFill>
                <a:latin typeface="Arial"/>
              </a:defRPr>
            </a:pPr>
            <a:r>
              <a:rPr/>
              <a:t>Abrir a conexão</a:t>
            </a:r>
            <a:endParaRPr/>
          </a:p>
          <a:p>
            <a:pPr algn="ctr"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23262A"/>
                </a:solidFill>
                <a:latin typeface="Arial"/>
              </a:defRPr>
            </a:pPr>
            <a:r>
              <a:rPr/>
              <a:t>↓</a:t>
            </a:r>
            <a:endParaRPr/>
          </a:p>
          <a:p>
            <a:pPr algn="ctr"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23262A"/>
                </a:solidFill>
                <a:latin typeface="Arial"/>
              </a:defRPr>
            </a:pPr>
            <a:r>
              <a:rPr/>
              <a:t>Enviar uma consulta</a:t>
            </a:r>
            <a:endParaRPr/>
          </a:p>
          <a:p>
            <a:pPr algn="ctr"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23262A"/>
                </a:solidFill>
                <a:latin typeface="Arial"/>
              </a:defRPr>
            </a:pPr>
            <a:r>
              <a:rPr/>
              <a:t>↓</a:t>
            </a:r>
            <a:endParaRPr/>
          </a:p>
          <a:p>
            <a:pPr algn="ctr"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23262A"/>
                </a:solidFill>
                <a:latin typeface="Arial"/>
              </a:defRPr>
            </a:pPr>
            <a:r>
              <a:rPr/>
              <a:t>Ler o resultado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15928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9538354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Como as peças se comunicam?</a:t>
            </a:r>
            <a:endParaRPr/>
          </a:p>
        </p:txBody>
      </p:sp>
      <p:sp>
        <p:nvSpPr>
          <p:cNvPr id="1184618917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8816152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569263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081337099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3</a:t>
            </a:r>
            <a:endParaRPr/>
          </a:p>
        </p:txBody>
      </p:sp>
      <p:sp>
        <p:nvSpPr>
          <p:cNvPr id="2052287806" name="Rounded Rectangle 7"/>
          <p:cNvSpPr/>
          <p:nvPr/>
        </p:nvSpPr>
        <p:spPr bwMode="auto">
          <a:xfrm>
            <a:off x="731520" y="1828800"/>
            <a:ext cx="2743200" cy="13716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047708" name="TextBox 8"/>
          <p:cNvSpPr txBox="1"/>
          <p:nvPr/>
        </p:nvSpPr>
        <p:spPr bwMode="auto">
          <a:xfrm>
            <a:off x="841248" y="2011680"/>
            <a:ext cx="25146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BE192D"/>
                </a:solidFill>
                <a:latin typeface="Arial"/>
              </a:defRPr>
            </a:pPr>
            <a:r>
              <a:rPr/>
              <a:t>NAVEGADOR</a:t>
            </a:r>
            <a:endParaRPr/>
          </a:p>
        </p:txBody>
      </p:sp>
      <p:sp>
        <p:nvSpPr>
          <p:cNvPr id="1991203916" name="TextBox 9"/>
          <p:cNvSpPr txBox="1"/>
          <p:nvPr/>
        </p:nvSpPr>
        <p:spPr bwMode="auto">
          <a:xfrm>
            <a:off x="841248" y="2514600"/>
            <a:ext cx="2514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23262A"/>
                </a:solidFill>
                <a:latin typeface="Arial"/>
              </a:defRPr>
            </a:pPr>
            <a:r>
              <a:rPr/>
              <a:t>Envia requisição</a:t>
            </a:r>
            <a:endParaRPr/>
          </a:p>
        </p:txBody>
      </p:sp>
      <p:sp>
        <p:nvSpPr>
          <p:cNvPr id="916615787" name="Rounded Rectangle 10"/>
          <p:cNvSpPr/>
          <p:nvPr/>
        </p:nvSpPr>
        <p:spPr bwMode="auto">
          <a:xfrm>
            <a:off x="4251960" y="1828800"/>
            <a:ext cx="2743200" cy="13716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0880343" name="TextBox 11"/>
          <p:cNvSpPr txBox="1"/>
          <p:nvPr/>
        </p:nvSpPr>
        <p:spPr bwMode="auto">
          <a:xfrm>
            <a:off x="4361688" y="2011680"/>
            <a:ext cx="25146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BE192D"/>
                </a:solidFill>
                <a:latin typeface="Arial"/>
              </a:defRPr>
            </a:pPr>
            <a:r>
              <a:rPr/>
              <a:t>PHP / APACHE</a:t>
            </a:r>
            <a:endParaRPr/>
          </a:p>
        </p:txBody>
      </p:sp>
      <p:sp>
        <p:nvSpPr>
          <p:cNvPr id="119060349" name="TextBox 12"/>
          <p:cNvSpPr txBox="1"/>
          <p:nvPr/>
        </p:nvSpPr>
        <p:spPr bwMode="auto">
          <a:xfrm>
            <a:off x="4361688" y="2514600"/>
            <a:ext cx="2514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23262A"/>
                </a:solidFill>
                <a:latin typeface="Arial"/>
              </a:defRPr>
            </a:pPr>
            <a:r>
              <a:rPr/>
              <a:t>Executa o código</a:t>
            </a:r>
            <a:endParaRPr/>
          </a:p>
        </p:txBody>
      </p:sp>
      <p:sp>
        <p:nvSpPr>
          <p:cNvPr id="1052786667" name="Rounded Rectangle 13"/>
          <p:cNvSpPr/>
          <p:nvPr/>
        </p:nvSpPr>
        <p:spPr bwMode="auto">
          <a:xfrm>
            <a:off x="7772400" y="1828800"/>
            <a:ext cx="2743200" cy="13716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2492865" name="TextBox 14"/>
          <p:cNvSpPr txBox="1"/>
          <p:nvPr/>
        </p:nvSpPr>
        <p:spPr bwMode="auto">
          <a:xfrm>
            <a:off x="7882127" y="2011680"/>
            <a:ext cx="25146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900" b="1">
                <a:solidFill>
                  <a:srgbClr val="BE192D"/>
                </a:solidFill>
                <a:latin typeface="Arial"/>
              </a:defRPr>
            </a:pPr>
            <a:r>
              <a:rPr/>
              <a:t>MYSQL</a:t>
            </a:r>
            <a:endParaRPr/>
          </a:p>
        </p:txBody>
      </p:sp>
      <p:sp>
        <p:nvSpPr>
          <p:cNvPr id="2037414651" name="TextBox 15"/>
          <p:cNvSpPr txBox="1"/>
          <p:nvPr/>
        </p:nvSpPr>
        <p:spPr bwMode="auto">
          <a:xfrm>
            <a:off x="7882127" y="2514600"/>
            <a:ext cx="25146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23262A"/>
                </a:solidFill>
                <a:latin typeface="Arial"/>
              </a:defRPr>
            </a:pPr>
            <a:r>
              <a:rPr/>
              <a:t>Armazena dados</a:t>
            </a:r>
            <a:endParaRPr/>
          </a:p>
        </p:txBody>
      </p:sp>
      <p:sp>
        <p:nvSpPr>
          <p:cNvPr id="1771472096" name="TextBox 16"/>
          <p:cNvSpPr txBox="1"/>
          <p:nvPr/>
        </p:nvSpPr>
        <p:spPr bwMode="auto">
          <a:xfrm>
            <a:off x="3547872" y="2194560"/>
            <a:ext cx="5486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BE192D"/>
                </a:solidFill>
                <a:latin typeface="Arial"/>
              </a:defRPr>
            </a:pPr>
            <a:r>
              <a:rPr/>
              <a:t>→</a:t>
            </a:r>
            <a:endParaRPr/>
          </a:p>
        </p:txBody>
      </p:sp>
      <p:sp>
        <p:nvSpPr>
          <p:cNvPr id="2082113447" name="TextBox 17"/>
          <p:cNvSpPr txBox="1"/>
          <p:nvPr/>
        </p:nvSpPr>
        <p:spPr bwMode="auto">
          <a:xfrm>
            <a:off x="7068312" y="2194560"/>
            <a:ext cx="5486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BE192D"/>
                </a:solidFill>
                <a:latin typeface="Arial"/>
              </a:defRPr>
            </a:pPr>
            <a:r>
              <a:rPr/>
              <a:t>→</a:t>
            </a:r>
            <a:endParaRPr/>
          </a:p>
        </p:txBody>
      </p:sp>
      <p:sp>
        <p:nvSpPr>
          <p:cNvPr id="1454154056" name="TextBox 18"/>
          <p:cNvSpPr txBox="1"/>
          <p:nvPr/>
        </p:nvSpPr>
        <p:spPr bwMode="auto"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23262A"/>
                </a:solidFill>
                <a:latin typeface="Arial"/>
              </a:defRPr>
            </a:pPr>
            <a:r>
              <a:rPr/>
              <a:t>O navegador não acessa o banco diretamente. O PHP faz a comunicação no servidor.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075806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805701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O que cada ferramenta faz?</a:t>
            </a:r>
            <a:endParaRPr/>
          </a:p>
        </p:txBody>
      </p:sp>
      <p:sp>
        <p:nvSpPr>
          <p:cNvPr id="72028682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6578284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625317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2083508618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4</a:t>
            </a:r>
            <a:endParaRPr/>
          </a:p>
        </p:txBody>
      </p:sp>
      <p:sp>
        <p:nvSpPr>
          <p:cNvPr id="1731433688" name="TextBox 7"/>
          <p:cNvSpPr txBox="1"/>
          <p:nvPr/>
        </p:nvSpPr>
        <p:spPr bwMode="auto">
          <a:xfrm>
            <a:off x="777240" y="1234440"/>
            <a:ext cx="10515960" cy="301178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Apache: recebe requisições e participa da execução da aplicação PHP.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PHP: processa regras, valida dados e gera a resposta.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MySQL/MariaDB: armazena dados em bancos e tabelas.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phpMyAdmin: interface web para administrar o banco; não substitui o PHP.</a:t>
            </a:r>
            <a:endParaRPr/>
          </a:p>
        </p:txBody>
      </p:sp>
      <p:sp>
        <p:nvSpPr>
          <p:cNvPr id="830892347" name="Rounded Rectangle 8"/>
          <p:cNvSpPr/>
          <p:nvPr/>
        </p:nvSpPr>
        <p:spPr bwMode="auto">
          <a:xfrm>
            <a:off x="4023360" y="5303520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INICIE APACHE + MYSQL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43769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038266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Preparando o ambiente local</a:t>
            </a:r>
            <a:endParaRPr/>
          </a:p>
        </p:txBody>
      </p:sp>
      <p:sp>
        <p:nvSpPr>
          <p:cNvPr id="596240461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4546020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8428119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009297588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5</a:t>
            </a:r>
            <a:endParaRPr/>
          </a:p>
        </p:txBody>
      </p:sp>
      <p:sp>
        <p:nvSpPr>
          <p:cNvPr id="1026992751" name="TextBox 7"/>
          <p:cNvSpPr txBox="1"/>
          <p:nvPr/>
        </p:nvSpPr>
        <p:spPr bwMode="auto">
          <a:xfrm>
            <a:off x="777240" y="1280160"/>
            <a:ext cx="5486760" cy="301178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Abra XAMPP ou WampServer.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Inicie Apache e MySQL/MariaDB.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Acesse http://localhost.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Abra o phpMyAdmin.</a:t>
            </a:r>
            <a:endParaRPr/>
          </a:p>
        </p:txBody>
      </p:sp>
      <p:sp>
        <p:nvSpPr>
          <p:cNvPr id="264623723" name="Rounded Rectangle 8"/>
          <p:cNvSpPr/>
          <p:nvPr/>
        </p:nvSpPr>
        <p:spPr bwMode="auto">
          <a:xfrm>
            <a:off x="6492240" y="1645920"/>
            <a:ext cx="4572000" cy="132588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ctr"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http://localhost</a:t>
            </a:r>
            <a:endParaRPr/>
          </a:p>
          <a:p>
            <a:pPr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http://localhost/phpmyadmin</a:t>
            </a:r>
            <a:endParaRPr/>
          </a:p>
        </p:txBody>
      </p:sp>
      <p:sp>
        <p:nvSpPr>
          <p:cNvPr id="168637330" name="TextBox 9"/>
          <p:cNvSpPr txBox="1"/>
          <p:nvPr/>
        </p:nvSpPr>
        <p:spPr bwMode="auto">
          <a:xfrm>
            <a:off x="6537960" y="3429000"/>
            <a:ext cx="4389120" cy="10972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646970"/>
                </a:solidFill>
                <a:latin typeface="Arial"/>
              </a:defRPr>
            </a:pPr>
            <a:r>
              <a:rPr/>
              <a:t>Se não abrir, confira se os serviços estão ativos e se há conflito de portas.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776280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5305887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Criando o banco vendas</a:t>
            </a:r>
            <a:endParaRPr/>
          </a:p>
        </p:txBody>
      </p:sp>
      <p:sp>
        <p:nvSpPr>
          <p:cNvPr id="1466294769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3015385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7953265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579174135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6</a:t>
            </a:r>
            <a:endParaRPr/>
          </a:p>
        </p:txBody>
      </p:sp>
      <p:sp>
        <p:nvSpPr>
          <p:cNvPr id="279950132" name="TextBox 7"/>
          <p:cNvSpPr txBox="1"/>
          <p:nvPr/>
        </p:nvSpPr>
        <p:spPr bwMode="auto">
          <a:xfrm>
            <a:off x="777240" y="1280160"/>
            <a:ext cx="484632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Execute no phpMyAdmin:</a:t>
            </a:r>
            <a:endParaRPr/>
          </a:p>
        </p:txBody>
      </p:sp>
      <p:sp>
        <p:nvSpPr>
          <p:cNvPr id="845014455" name="Rounded Rectangle 8"/>
          <p:cNvSpPr/>
          <p:nvPr/>
        </p:nvSpPr>
        <p:spPr bwMode="auto">
          <a:xfrm>
            <a:off x="777240" y="1828800"/>
            <a:ext cx="4937760" cy="109728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ctr"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CREATE DATABASE vendas</a:t>
            </a:r>
            <a:endParaRPr/>
          </a:p>
          <a:p>
            <a:pPr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  CHARACTER SET utf8mb4;</a:t>
            </a:r>
            <a:endParaRPr/>
          </a:p>
        </p:txBody>
      </p:sp>
      <p:sp>
        <p:nvSpPr>
          <p:cNvPr id="1752412308" name="TextBox 9"/>
          <p:cNvSpPr txBox="1"/>
          <p:nvPr/>
        </p:nvSpPr>
        <p:spPr bwMode="auto">
          <a:xfrm>
            <a:off x="6126480" y="1645920"/>
            <a:ext cx="4938119" cy="21786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Nome do banco: vendas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Codificação recomendada: utf8mb4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As tabelas ficam dentro do banco.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279322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345328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Criando uma tabela de teste</a:t>
            </a:r>
            <a:endParaRPr/>
          </a:p>
        </p:txBody>
      </p:sp>
      <p:sp>
        <p:nvSpPr>
          <p:cNvPr id="784661124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9549338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608730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068755062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7</a:t>
            </a:r>
            <a:endParaRPr/>
          </a:p>
        </p:txBody>
      </p:sp>
      <p:sp>
        <p:nvSpPr>
          <p:cNvPr id="1383923200" name="Rounded Rectangle 7"/>
          <p:cNvSpPr/>
          <p:nvPr/>
        </p:nvSpPr>
        <p:spPr bwMode="auto">
          <a:xfrm>
            <a:off x="731520" y="1325880"/>
            <a:ext cx="6400800" cy="338328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20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USE vendas;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CREATE TABLE usuarios (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  id INT AUTO_INCREMENT PRIMARY KEY,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  nome VARCHAR(100) NOT NULL,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  email VARCHAR(150) NOT NULL UNIQUE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);</a:t>
            </a:r>
            <a:endParaRPr/>
          </a:p>
        </p:txBody>
      </p:sp>
      <p:sp>
        <p:nvSpPr>
          <p:cNvPr id="613519090" name="Rounded Rectangle 8"/>
          <p:cNvSpPr/>
          <p:nvPr/>
        </p:nvSpPr>
        <p:spPr bwMode="auto">
          <a:xfrm>
            <a:off x="7726679" y="155448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CONCEITOS-CHAVE</a:t>
            </a:r>
            <a:endParaRPr/>
          </a:p>
        </p:txBody>
      </p:sp>
      <p:sp>
        <p:nvSpPr>
          <p:cNvPr id="1371720329" name="TextBox 9"/>
          <p:cNvSpPr txBox="1"/>
          <p:nvPr/>
        </p:nvSpPr>
        <p:spPr bwMode="auto">
          <a:xfrm flipH="0" flipV="0">
            <a:off x="7680960" y="2148839"/>
            <a:ext cx="4360659" cy="252410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700" b="0">
                <a:solidFill>
                  <a:srgbClr val="23262A"/>
                </a:solidFill>
                <a:latin typeface="Arial"/>
              </a:defRPr>
            </a:pPr>
            <a:r>
              <a:rPr/>
              <a:t>•  PRIMARY KEY: identifica a linha.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700" b="0">
                <a:solidFill>
                  <a:srgbClr val="23262A"/>
                </a:solidFill>
                <a:latin typeface="Arial"/>
              </a:defRPr>
            </a:pPr>
            <a:r>
              <a:rPr/>
              <a:t>•  AUTO_INCREMENT: gera o ID.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700" b="0">
                <a:solidFill>
                  <a:srgbClr val="23262A"/>
                </a:solidFill>
                <a:latin typeface="Arial"/>
              </a:defRPr>
            </a:pPr>
            <a:r>
              <a:rPr/>
              <a:t>•  NOT NULL: obrigatório.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700" b="0">
                <a:solidFill>
                  <a:srgbClr val="23262A"/>
                </a:solidFill>
                <a:latin typeface="Arial"/>
              </a:defRPr>
            </a:pPr>
            <a:r>
              <a:rPr/>
              <a:t>•  UNIQUE: evita repetição.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43531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481334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MySQLi ou PDO?</a:t>
            </a:r>
            <a:endParaRPr/>
          </a:p>
        </p:txBody>
      </p:sp>
      <p:sp>
        <p:nvSpPr>
          <p:cNvPr id="621432320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7323595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568691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438805931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8</a:t>
            </a:r>
            <a:endParaRPr/>
          </a:p>
        </p:txBody>
      </p:sp>
      <p:sp>
        <p:nvSpPr>
          <p:cNvPr id="117454383" name="TextBox 7"/>
          <p:cNvSpPr txBox="1"/>
          <p:nvPr/>
        </p:nvSpPr>
        <p:spPr bwMode="auto">
          <a:xfrm>
            <a:off x="777240" y="1234440"/>
            <a:ext cx="502920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BE192D"/>
                </a:solidFill>
                <a:latin typeface="Arial Black"/>
              </a:defRPr>
            </a:pPr>
            <a:r>
              <a:rPr/>
              <a:t>MySQLi</a:t>
            </a:r>
            <a:endParaRPr/>
          </a:p>
        </p:txBody>
      </p:sp>
      <p:sp>
        <p:nvSpPr>
          <p:cNvPr id="1956955027" name="TextBox 8"/>
          <p:cNvSpPr txBox="1"/>
          <p:nvPr/>
        </p:nvSpPr>
        <p:spPr bwMode="auto">
          <a:xfrm flipH="0" flipV="0">
            <a:off x="777240" y="1828800"/>
            <a:ext cx="5231879" cy="208722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•  Voltado a MySQL/MariaDB.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•  Tem estilo procedural e orientado a objetos.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•  Útil em projetos específicos de MySQL.</a:t>
            </a:r>
            <a:endParaRPr/>
          </a:p>
        </p:txBody>
      </p:sp>
      <p:sp>
        <p:nvSpPr>
          <p:cNvPr id="2079699574" name="TextBox 9"/>
          <p:cNvSpPr txBox="1"/>
          <p:nvPr/>
        </p:nvSpPr>
        <p:spPr bwMode="auto">
          <a:xfrm>
            <a:off x="6309360" y="1234440"/>
            <a:ext cx="502920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BE192D"/>
                </a:solidFill>
                <a:latin typeface="Arial Black"/>
              </a:defRPr>
            </a:pPr>
            <a:r>
              <a:rPr/>
              <a:t>PDO</a:t>
            </a:r>
            <a:endParaRPr/>
          </a:p>
        </p:txBody>
      </p:sp>
      <p:sp>
        <p:nvSpPr>
          <p:cNvPr id="801152235" name="TextBox 10"/>
          <p:cNvSpPr txBox="1"/>
          <p:nvPr/>
        </p:nvSpPr>
        <p:spPr bwMode="auto">
          <a:xfrm>
            <a:off x="6309360" y="1828800"/>
            <a:ext cx="5029559" cy="208722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•  Interface para diferentes bancos.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•  Usa objetos e instruções preparadas.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•  Será nossa abordagem principal.</a:t>
            </a:r>
            <a:endParaRPr/>
          </a:p>
        </p:txBody>
      </p:sp>
      <p:sp>
        <p:nvSpPr>
          <p:cNvPr id="1432648905" name="TextBox 11"/>
          <p:cNvSpPr txBox="1"/>
          <p:nvPr/>
        </p:nvSpPr>
        <p:spPr bwMode="auto"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23262A"/>
                </a:solidFill>
                <a:latin typeface="Arial"/>
              </a:defRPr>
            </a:pPr>
            <a:r>
              <a:rPr/>
              <a:t>PDO não é um banco: é uma interface para acessá-lo.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337722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7077773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O que é uma conexão?</a:t>
            </a:r>
            <a:endParaRPr/>
          </a:p>
        </p:txBody>
      </p:sp>
      <p:sp>
        <p:nvSpPr>
          <p:cNvPr id="457352571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0950364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1028810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472689539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9</a:t>
            </a:r>
            <a:endParaRPr/>
          </a:p>
        </p:txBody>
      </p:sp>
      <p:sp>
        <p:nvSpPr>
          <p:cNvPr id="995821435" name="TextBox 7"/>
          <p:cNvSpPr txBox="1"/>
          <p:nvPr/>
        </p:nvSpPr>
        <p:spPr bwMode="auto">
          <a:xfrm>
            <a:off x="777240" y="1325880"/>
            <a:ext cx="5669999" cy="33978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É a comunicação entre PHP e o servidor do banco.</a:t>
            </a:r>
            <a:endParaRPr sz="2000"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Informamos servidor, banco, usuário e senha.</a:t>
            </a:r>
            <a:endParaRPr sz="2000"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Se falhar, o PHP não conseguirá consultar os dados.</a:t>
            </a:r>
            <a:endParaRPr sz="2000"/>
          </a:p>
        </p:txBody>
      </p:sp>
      <p:sp>
        <p:nvSpPr>
          <p:cNvPr id="2092706652" name="Rounded Rectangle 8"/>
          <p:cNvSpPr/>
          <p:nvPr/>
        </p:nvSpPr>
        <p:spPr bwMode="auto">
          <a:xfrm>
            <a:off x="6629400" y="1645920"/>
            <a:ext cx="4389120" cy="192024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15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$host = 'localhost';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$db   = 'vendas';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$user = 'root';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$pass = '';</a:t>
            </a:r>
            <a:endParaRPr/>
          </a:p>
        </p:txBody>
      </p:sp>
      <p:sp>
        <p:nvSpPr>
          <p:cNvPr id="739631829" name="TextBox 9"/>
          <p:cNvSpPr txBox="1"/>
          <p:nvPr/>
        </p:nvSpPr>
        <p:spPr bwMode="auto">
          <a:xfrm>
            <a:off x="6675120" y="3886200"/>
            <a:ext cx="429768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646970"/>
                </a:solidFill>
                <a:latin typeface="Arial"/>
              </a:defRPr>
            </a:pPr>
            <a:r>
              <a:rPr/>
              <a:t>Valores comuns em ambiente local; podem variar.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69540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9674178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Conexão usando PDO</a:t>
            </a:r>
            <a:endParaRPr/>
          </a:p>
        </p:txBody>
      </p:sp>
      <p:sp>
        <p:nvSpPr>
          <p:cNvPr id="1556045693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7579483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3893829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858652952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10</a:t>
            </a:r>
            <a:endParaRPr/>
          </a:p>
        </p:txBody>
      </p:sp>
      <p:sp>
        <p:nvSpPr>
          <p:cNvPr id="604661577" name="Rounded Rectangle 7"/>
          <p:cNvSpPr/>
          <p:nvPr/>
        </p:nvSpPr>
        <p:spPr bwMode="auto">
          <a:xfrm flipH="0" flipV="0">
            <a:off x="622299" y="1188720"/>
            <a:ext cx="7315200" cy="526287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&lt;?php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$host = 'localhost';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$db = 'vendas';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$user = 'root';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$pass = '';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$dsn = "mysql:host=$host;dbname=$db;charset=utf8mb4";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try {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$pdo = new PDO($dsn, $user, $pass);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$pdo-&gt;setAttribute(PDO::ATTR_ERRMODE,</a:t>
            </a:r>
            <a:r>
              <a:rPr lang="pt-BR"/>
              <a:t> </a:t>
            </a:r>
            <a:r>
              <a:rPr/>
              <a:t>PDO::ERRMODE_EXCEPTION);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echo 'Conexão realizada!';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} catch (PDOException $e) {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echo 'Não foi possível conectar.';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}</a:t>
            </a:r>
            <a:endParaRPr/>
          </a:p>
          <a:p>
            <a:pPr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?&gt;</a:t>
            </a:r>
            <a:endParaRPr/>
          </a:p>
        </p:txBody>
      </p:sp>
      <p:sp>
        <p:nvSpPr>
          <p:cNvPr id="58522349" name="Rounded Rectangle 8"/>
          <p:cNvSpPr/>
          <p:nvPr/>
        </p:nvSpPr>
        <p:spPr bwMode="auto">
          <a:xfrm>
            <a:off x="8321039" y="141732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PASSO A PASSO</a:t>
            </a:r>
            <a:endParaRPr/>
          </a:p>
        </p:txBody>
      </p:sp>
      <p:sp>
        <p:nvSpPr>
          <p:cNvPr id="1259083504" name="TextBox 9"/>
          <p:cNvSpPr txBox="1"/>
          <p:nvPr/>
        </p:nvSpPr>
        <p:spPr bwMode="auto">
          <a:xfrm>
            <a:off x="8229600" y="2011680"/>
            <a:ext cx="3109320" cy="264602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Monta o DSN.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Cria o objeto PDO.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Configura os erros.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Trata falhas.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992736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5862457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Onde salvar e como executar?</a:t>
            </a:r>
            <a:endParaRPr/>
          </a:p>
        </p:txBody>
      </p:sp>
      <p:sp>
        <p:nvSpPr>
          <p:cNvPr id="2124147290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1669063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2616073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408010870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11</a:t>
            </a:r>
            <a:endParaRPr/>
          </a:p>
        </p:txBody>
      </p:sp>
      <p:sp>
        <p:nvSpPr>
          <p:cNvPr id="629044641" name="TextBox 7"/>
          <p:cNvSpPr txBox="1"/>
          <p:nvPr/>
        </p:nvSpPr>
        <p:spPr bwMode="auto">
          <a:xfrm>
            <a:off x="777240" y="1280160"/>
            <a:ext cx="5486760" cy="33978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Crie uma pasta dentro de htdocs (XAMPP) ou www (WampServer).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Salve como conexao.php.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Acesse pela URL localhost; não abra com duplo clique.</a:t>
            </a:r>
            <a:endParaRPr/>
          </a:p>
        </p:txBody>
      </p:sp>
      <p:sp>
        <p:nvSpPr>
          <p:cNvPr id="1848553418" name="Rounded Rectangle 8"/>
          <p:cNvSpPr/>
          <p:nvPr/>
        </p:nvSpPr>
        <p:spPr bwMode="auto">
          <a:xfrm>
            <a:off x="6537960" y="1645920"/>
            <a:ext cx="4572000" cy="105156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ctr"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htdocs/atividade/conexao.php</a:t>
            </a:r>
            <a:endParaRPr/>
          </a:p>
        </p:txBody>
      </p:sp>
      <p:sp>
        <p:nvSpPr>
          <p:cNvPr id="270647454" name="Rounded Rectangle 9"/>
          <p:cNvSpPr/>
          <p:nvPr/>
        </p:nvSpPr>
        <p:spPr bwMode="auto">
          <a:xfrm>
            <a:off x="6537960" y="3108960"/>
            <a:ext cx="4572000" cy="105156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ctr"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http://localhost/atividade/conexao.php</a:t>
            </a:r>
            <a:endParaRPr/>
          </a:p>
        </p:txBody>
      </p:sp>
      <p:sp>
        <p:nvSpPr>
          <p:cNvPr id="321513505" name="TextBox 10"/>
          <p:cNvSpPr txBox="1"/>
          <p:nvPr/>
        </p:nvSpPr>
        <p:spPr bwMode="auto">
          <a:xfrm>
            <a:off x="6583680" y="4572000"/>
            <a:ext cx="448056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800" b="1">
                <a:solidFill>
                  <a:srgbClr val="BE192D"/>
                </a:solidFill>
                <a:latin typeface="Arial"/>
              </a:defRPr>
            </a:pPr>
            <a:r>
              <a:rPr/>
              <a:t>Extensão .php + servidor ativo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790710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568140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Conexão com MySQLi: visão rápida</a:t>
            </a:r>
            <a:endParaRPr/>
          </a:p>
        </p:txBody>
      </p:sp>
      <p:sp>
        <p:nvSpPr>
          <p:cNvPr id="1311799597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3466456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0065864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694212677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12</a:t>
            </a:r>
            <a:endParaRPr/>
          </a:p>
        </p:txBody>
      </p:sp>
      <p:sp>
        <p:nvSpPr>
          <p:cNvPr id="1615850868" name="Rounded Rectangle 7"/>
          <p:cNvSpPr/>
          <p:nvPr/>
        </p:nvSpPr>
        <p:spPr bwMode="auto">
          <a:xfrm flipH="0" flipV="0">
            <a:off x="731519" y="1325880"/>
            <a:ext cx="6583680" cy="410971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&lt;?php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$mysqli = new mysqli(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    'localhost', 'root', '', 'vendas'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if ($mysqli-&gt;connect_error) {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    die('Falha na conexão.');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}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echo 'Conectado!';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700">
                <a:solidFill>
                  <a:srgbClr val="EEF1F4"/>
                </a:solidFill>
                <a:latin typeface="Consolas"/>
              </a:defRPr>
            </a:pPr>
            <a:r>
              <a:rPr/>
              <a:t>?&gt;</a:t>
            </a:r>
            <a:endParaRPr/>
          </a:p>
        </p:txBody>
      </p:sp>
      <p:sp>
        <p:nvSpPr>
          <p:cNvPr id="1695216453" name="TextBox 8"/>
          <p:cNvSpPr txBox="1"/>
          <p:nvPr/>
        </p:nvSpPr>
        <p:spPr bwMode="auto">
          <a:xfrm flipH="0" flipV="0">
            <a:off x="7726678" y="1554480"/>
            <a:ext cx="3978360" cy="254442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Exemplo orientado a objetos.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A ordem dos parâmetros importa.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•  Não exponha detalhes técnicos ao visitante.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99325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0102153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Testando uma consulta</a:t>
            </a:r>
            <a:endParaRPr/>
          </a:p>
        </p:txBody>
      </p:sp>
      <p:sp>
        <p:nvSpPr>
          <p:cNvPr id="1141212498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4513725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192689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36335603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13</a:t>
            </a:r>
            <a:endParaRPr/>
          </a:p>
        </p:txBody>
      </p:sp>
      <p:sp>
        <p:nvSpPr>
          <p:cNvPr id="1350688215" name="Rounded Rectangle 7"/>
          <p:cNvSpPr/>
          <p:nvPr/>
        </p:nvSpPr>
        <p:spPr bwMode="auto">
          <a:xfrm flipH="0" flipV="0">
            <a:off x="731519" y="1325880"/>
            <a:ext cx="6858000" cy="479551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&lt;?php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$stmt = $pdo-&gt;query('SELECT id, nome, email FROM usuarios');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$usuarios = $stmt-&gt;fetchAll(PDO::FETCH_ASSOC);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foreach ($usuarios as $usuario) {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    echo htmlspecialchars($usuario['nome']);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    echo ' - 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    echo htmlspecialchars($usuario['email']);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    echo '&lt;br&gt;';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}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?&gt;</a:t>
            </a:r>
            <a:endParaRPr/>
          </a:p>
        </p:txBody>
      </p:sp>
      <p:sp>
        <p:nvSpPr>
          <p:cNvPr id="189593538" name="Rounded Rectangle 8"/>
          <p:cNvSpPr/>
          <p:nvPr/>
        </p:nvSpPr>
        <p:spPr bwMode="auto">
          <a:xfrm>
            <a:off x="8046720" y="164592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POR QUE ESCAPAR?</a:t>
            </a:r>
            <a:endParaRPr/>
          </a:p>
        </p:txBody>
      </p:sp>
      <p:sp>
        <p:nvSpPr>
          <p:cNvPr id="99328863" name="TextBox 9"/>
          <p:cNvSpPr txBox="1"/>
          <p:nvPr/>
        </p:nvSpPr>
        <p:spPr bwMode="auto">
          <a:xfrm flipH="0" flipV="0">
            <a:off x="7909560" y="2286000"/>
            <a:ext cx="3777191" cy="246314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/>
              <a:t>htmlspecialchars() evita que conteúdo digitado seja interpretado como HTML na saída.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9067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6653125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Por que usar consulta preparada?</a:t>
            </a:r>
            <a:endParaRPr/>
          </a:p>
        </p:txBody>
      </p:sp>
      <p:sp>
        <p:nvSpPr>
          <p:cNvPr id="384580842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3924810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863485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815733252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14</a:t>
            </a:r>
            <a:endParaRPr/>
          </a:p>
        </p:txBody>
      </p:sp>
      <p:sp>
        <p:nvSpPr>
          <p:cNvPr id="657786727" name="TextBox 7"/>
          <p:cNvSpPr txBox="1"/>
          <p:nvPr/>
        </p:nvSpPr>
        <p:spPr bwMode="auto">
          <a:xfrm>
            <a:off x="731520" y="1234440"/>
            <a:ext cx="502920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1">
                <a:solidFill>
                  <a:srgbClr val="BE192D"/>
                </a:solidFill>
                <a:latin typeface="Arial"/>
              </a:defRPr>
            </a:pPr>
            <a:r>
              <a:rPr/>
              <a:t>EVITE concatenar entradas</a:t>
            </a:r>
            <a:endParaRPr/>
          </a:p>
        </p:txBody>
      </p:sp>
      <p:sp>
        <p:nvSpPr>
          <p:cNvPr id="53045006" name="Rounded Rectangle 8"/>
          <p:cNvSpPr/>
          <p:nvPr/>
        </p:nvSpPr>
        <p:spPr bwMode="auto">
          <a:xfrm>
            <a:off x="731520" y="1828800"/>
            <a:ext cx="5120640" cy="132588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ctr"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$sql = "SELECT * FROM usuarios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500">
                <a:solidFill>
                  <a:srgbClr val="EEF1F4"/>
                </a:solidFill>
                <a:latin typeface="Consolas"/>
              </a:defRPr>
            </a:pPr>
            <a:r>
              <a:rPr/>
              <a:t>WHERE email = '$email'";</a:t>
            </a:r>
            <a:endParaRPr/>
          </a:p>
        </p:txBody>
      </p:sp>
      <p:sp>
        <p:nvSpPr>
          <p:cNvPr id="1408272471" name="TextBox 9"/>
          <p:cNvSpPr txBox="1"/>
          <p:nvPr/>
        </p:nvSpPr>
        <p:spPr bwMode="auto">
          <a:xfrm>
            <a:off x="6309360" y="1234440"/>
            <a:ext cx="502920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1">
                <a:solidFill>
                  <a:srgbClr val="237855"/>
                </a:solidFill>
                <a:latin typeface="Arial"/>
              </a:defRPr>
            </a:pPr>
            <a:r>
              <a:rPr/>
              <a:t>PREFIRA parâmetros</a:t>
            </a:r>
            <a:endParaRPr/>
          </a:p>
        </p:txBody>
      </p:sp>
      <p:sp>
        <p:nvSpPr>
          <p:cNvPr id="1255810654" name="Rounded Rectangle 10"/>
          <p:cNvSpPr/>
          <p:nvPr/>
        </p:nvSpPr>
        <p:spPr bwMode="auto">
          <a:xfrm>
            <a:off x="6309360" y="1828800"/>
            <a:ext cx="5120640" cy="1645920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$stmt = $pdo-&gt;prepare(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'SELECT * FROM usuarios WHERE email = :email'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$stmt-&gt;execute(['email' =&gt; $email]);</a:t>
            </a:r>
            <a:endParaRPr/>
          </a:p>
        </p:txBody>
      </p:sp>
      <p:sp>
        <p:nvSpPr>
          <p:cNvPr id="1332484323" name="TextBox 11"/>
          <p:cNvSpPr txBox="1"/>
          <p:nvPr/>
        </p:nvSpPr>
        <p:spPr bwMode="auto">
          <a:xfrm>
            <a:off x="914400" y="4160519"/>
            <a:ext cx="10241280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23262A"/>
                </a:solidFill>
                <a:latin typeface="Arial"/>
              </a:defRPr>
            </a:pPr>
            <a:r>
              <a:rPr/>
              <a:t>Parâmetros separam o comando SQL dos valores recebidos e reduzem o risco de SQL Injection.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887712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0985288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Formulário: o que acontece?</a:t>
            </a:r>
            <a:endParaRPr/>
          </a:p>
        </p:txBody>
      </p:sp>
      <p:sp>
        <p:nvSpPr>
          <p:cNvPr id="910523240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464206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3657274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642163190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15</a:t>
            </a:r>
            <a:endParaRPr/>
          </a:p>
        </p:txBody>
      </p:sp>
      <p:sp>
        <p:nvSpPr>
          <p:cNvPr id="345468106" name="Rounded Rectangle 7"/>
          <p:cNvSpPr/>
          <p:nvPr/>
        </p:nvSpPr>
        <p:spPr bwMode="auto">
          <a:xfrm>
            <a:off x="502920" y="1920240"/>
            <a:ext cx="1920240" cy="1234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983421" name="TextBox 8"/>
          <p:cNvSpPr txBox="1"/>
          <p:nvPr/>
        </p:nvSpPr>
        <p:spPr bwMode="auto">
          <a:xfrm>
            <a:off x="594360" y="202996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BE192D"/>
                </a:solidFill>
                <a:latin typeface="Arial"/>
              </a:defRPr>
            </a:pPr>
            <a:r>
              <a:rPr/>
              <a:t>1</a:t>
            </a:r>
            <a:endParaRPr/>
          </a:p>
        </p:txBody>
      </p:sp>
      <p:sp>
        <p:nvSpPr>
          <p:cNvPr id="731803373" name="TextBox 9"/>
          <p:cNvSpPr txBox="1"/>
          <p:nvPr/>
        </p:nvSpPr>
        <p:spPr bwMode="auto">
          <a:xfrm>
            <a:off x="576072" y="2468880"/>
            <a:ext cx="1773936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23262A"/>
                </a:solidFill>
                <a:latin typeface="Arial"/>
              </a:defRPr>
            </a:pPr>
            <a:r>
              <a:rPr/>
              <a:t>Usuário preenche</a:t>
            </a:r>
            <a:endParaRPr/>
          </a:p>
        </p:txBody>
      </p:sp>
      <p:sp>
        <p:nvSpPr>
          <p:cNvPr id="2141218112" name="TextBox 10"/>
          <p:cNvSpPr txBox="1"/>
          <p:nvPr/>
        </p:nvSpPr>
        <p:spPr bwMode="auto">
          <a:xfrm>
            <a:off x="2423160" y="22860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100" b="1">
                <a:solidFill>
                  <a:srgbClr val="BE192D"/>
                </a:solidFill>
                <a:latin typeface="Arial"/>
              </a:defRPr>
            </a:pPr>
            <a:r>
              <a:rPr/>
              <a:t>→</a:t>
            </a:r>
            <a:endParaRPr/>
          </a:p>
        </p:txBody>
      </p:sp>
      <p:sp>
        <p:nvSpPr>
          <p:cNvPr id="1450477122" name="Rounded Rectangle 11"/>
          <p:cNvSpPr/>
          <p:nvPr/>
        </p:nvSpPr>
        <p:spPr bwMode="auto">
          <a:xfrm>
            <a:off x="2834639" y="1920240"/>
            <a:ext cx="1920240" cy="1234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1575633" name="TextBox 12"/>
          <p:cNvSpPr txBox="1"/>
          <p:nvPr/>
        </p:nvSpPr>
        <p:spPr bwMode="auto">
          <a:xfrm>
            <a:off x="2926079" y="202996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BE192D"/>
                </a:solidFill>
                <a:latin typeface="Arial"/>
              </a:defRPr>
            </a:pPr>
            <a:r>
              <a:rPr/>
              <a:t>2</a:t>
            </a:r>
            <a:endParaRPr/>
          </a:p>
        </p:txBody>
      </p:sp>
      <p:sp>
        <p:nvSpPr>
          <p:cNvPr id="935376634" name="TextBox 13"/>
          <p:cNvSpPr txBox="1"/>
          <p:nvPr/>
        </p:nvSpPr>
        <p:spPr bwMode="auto">
          <a:xfrm>
            <a:off x="2907791" y="2468880"/>
            <a:ext cx="1773936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23262A"/>
                </a:solidFill>
                <a:latin typeface="Arial"/>
              </a:defRPr>
            </a:pPr>
            <a:r>
              <a:rPr/>
              <a:t>HTML envia</a:t>
            </a:r>
            <a:endParaRPr/>
          </a:p>
        </p:txBody>
      </p:sp>
      <p:sp>
        <p:nvSpPr>
          <p:cNvPr id="1756419727" name="TextBox 14"/>
          <p:cNvSpPr txBox="1"/>
          <p:nvPr/>
        </p:nvSpPr>
        <p:spPr bwMode="auto">
          <a:xfrm>
            <a:off x="4754879" y="22860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100" b="1">
                <a:solidFill>
                  <a:srgbClr val="BE192D"/>
                </a:solidFill>
                <a:latin typeface="Arial"/>
              </a:defRPr>
            </a:pPr>
            <a:r>
              <a:rPr/>
              <a:t>→</a:t>
            </a:r>
            <a:endParaRPr/>
          </a:p>
        </p:txBody>
      </p:sp>
      <p:sp>
        <p:nvSpPr>
          <p:cNvPr id="748124327" name="Rounded Rectangle 15"/>
          <p:cNvSpPr/>
          <p:nvPr/>
        </p:nvSpPr>
        <p:spPr bwMode="auto">
          <a:xfrm>
            <a:off x="5166359" y="1920240"/>
            <a:ext cx="1920240" cy="1234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2828590" name="TextBox 16"/>
          <p:cNvSpPr txBox="1"/>
          <p:nvPr/>
        </p:nvSpPr>
        <p:spPr bwMode="auto">
          <a:xfrm>
            <a:off x="5257798" y="202996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BE192D"/>
                </a:solidFill>
                <a:latin typeface="Arial"/>
              </a:defRPr>
            </a:pPr>
            <a:r>
              <a:rPr/>
              <a:t>3</a:t>
            </a:r>
            <a:endParaRPr/>
          </a:p>
        </p:txBody>
      </p:sp>
      <p:sp>
        <p:nvSpPr>
          <p:cNvPr id="1848806080" name="TextBox 17"/>
          <p:cNvSpPr txBox="1"/>
          <p:nvPr/>
        </p:nvSpPr>
        <p:spPr bwMode="auto">
          <a:xfrm>
            <a:off x="5239512" y="2468880"/>
            <a:ext cx="1773936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23262A"/>
                </a:solidFill>
                <a:latin typeface="Arial"/>
              </a:defRPr>
            </a:pPr>
            <a:r>
              <a:rPr/>
              <a:t>PHP valida</a:t>
            </a:r>
            <a:endParaRPr/>
          </a:p>
        </p:txBody>
      </p:sp>
      <p:sp>
        <p:nvSpPr>
          <p:cNvPr id="1700413060" name="TextBox 18"/>
          <p:cNvSpPr txBox="1"/>
          <p:nvPr/>
        </p:nvSpPr>
        <p:spPr bwMode="auto">
          <a:xfrm>
            <a:off x="7086600" y="22860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100" b="1">
                <a:solidFill>
                  <a:srgbClr val="BE192D"/>
                </a:solidFill>
                <a:latin typeface="Arial"/>
              </a:defRPr>
            </a:pPr>
            <a:r>
              <a:rPr/>
              <a:t>→</a:t>
            </a:r>
            <a:endParaRPr/>
          </a:p>
        </p:txBody>
      </p:sp>
      <p:sp>
        <p:nvSpPr>
          <p:cNvPr id="229991308" name="Rounded Rectangle 19"/>
          <p:cNvSpPr/>
          <p:nvPr/>
        </p:nvSpPr>
        <p:spPr bwMode="auto">
          <a:xfrm>
            <a:off x="7498079" y="1920240"/>
            <a:ext cx="1920240" cy="1234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7262608" name="TextBox 20"/>
          <p:cNvSpPr txBox="1"/>
          <p:nvPr/>
        </p:nvSpPr>
        <p:spPr bwMode="auto">
          <a:xfrm>
            <a:off x="7589519" y="202996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BE192D"/>
                </a:solidFill>
                <a:latin typeface="Arial"/>
              </a:defRPr>
            </a:pPr>
            <a:r>
              <a:rPr/>
              <a:t>4</a:t>
            </a:r>
            <a:endParaRPr/>
          </a:p>
        </p:txBody>
      </p:sp>
      <p:sp>
        <p:nvSpPr>
          <p:cNvPr id="435441958" name="TextBox 21"/>
          <p:cNvSpPr txBox="1"/>
          <p:nvPr/>
        </p:nvSpPr>
        <p:spPr bwMode="auto">
          <a:xfrm>
            <a:off x="7571231" y="2468880"/>
            <a:ext cx="1773936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23262A"/>
                </a:solidFill>
                <a:latin typeface="Arial"/>
              </a:defRPr>
            </a:pPr>
            <a:r>
              <a:rPr/>
              <a:t>PDO consulta</a:t>
            </a:r>
            <a:endParaRPr/>
          </a:p>
        </p:txBody>
      </p:sp>
      <p:sp>
        <p:nvSpPr>
          <p:cNvPr id="744361150" name="TextBox 22"/>
          <p:cNvSpPr txBox="1"/>
          <p:nvPr/>
        </p:nvSpPr>
        <p:spPr bwMode="auto">
          <a:xfrm>
            <a:off x="9418319" y="22860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100" b="1">
                <a:solidFill>
                  <a:srgbClr val="BE192D"/>
                </a:solidFill>
                <a:latin typeface="Arial"/>
              </a:defRPr>
            </a:pPr>
            <a:r>
              <a:rPr/>
              <a:t>→</a:t>
            </a:r>
            <a:endParaRPr/>
          </a:p>
        </p:txBody>
      </p:sp>
      <p:sp>
        <p:nvSpPr>
          <p:cNvPr id="924786618" name="Rounded Rectangle 23"/>
          <p:cNvSpPr/>
          <p:nvPr/>
        </p:nvSpPr>
        <p:spPr bwMode="auto">
          <a:xfrm>
            <a:off x="9829800" y="1920240"/>
            <a:ext cx="1920240" cy="12344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solidFill>
              <a:srgbClr val="BE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7259400" name="TextBox 24"/>
          <p:cNvSpPr txBox="1"/>
          <p:nvPr/>
        </p:nvSpPr>
        <p:spPr bwMode="auto">
          <a:xfrm>
            <a:off x="9921240" y="2029968"/>
            <a:ext cx="17373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200" b="1">
                <a:solidFill>
                  <a:srgbClr val="BE192D"/>
                </a:solidFill>
                <a:latin typeface="Arial"/>
              </a:defRPr>
            </a:pPr>
            <a:r>
              <a:rPr/>
              <a:t>5</a:t>
            </a:r>
            <a:endParaRPr/>
          </a:p>
        </p:txBody>
      </p:sp>
      <p:sp>
        <p:nvSpPr>
          <p:cNvPr id="1632952876" name="TextBox 25"/>
          <p:cNvSpPr txBox="1"/>
          <p:nvPr/>
        </p:nvSpPr>
        <p:spPr bwMode="auto">
          <a:xfrm>
            <a:off x="9902952" y="2468880"/>
            <a:ext cx="1773936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23262A"/>
                </a:solidFill>
                <a:latin typeface="Arial"/>
              </a:defRPr>
            </a:pPr>
            <a:r>
              <a:rPr/>
              <a:t>PHP responde</a:t>
            </a:r>
            <a:endParaRPr/>
          </a:p>
        </p:txBody>
      </p:sp>
      <p:sp>
        <p:nvSpPr>
          <p:cNvPr id="1538446614" name="TextBox 26"/>
          <p:cNvSpPr txBox="1"/>
          <p:nvPr/>
        </p:nvSpPr>
        <p:spPr bwMode="auto">
          <a:xfrm>
            <a:off x="914400" y="4023360"/>
            <a:ext cx="10332720" cy="777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23262A"/>
                </a:solidFill>
                <a:latin typeface="Arial"/>
              </a:defRPr>
            </a:pPr>
            <a:r>
              <a:rPr/>
              <a:t>A conexão não autentica ninguém sozinha: ela permite que o PHP converse com o banco.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390158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2997716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Exemplo de consulta com parâmetro</a:t>
            </a:r>
            <a:endParaRPr/>
          </a:p>
        </p:txBody>
      </p:sp>
      <p:sp>
        <p:nvSpPr>
          <p:cNvPr id="1724936198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4917127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4825490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806686348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16</a:t>
            </a:r>
            <a:endParaRPr/>
          </a:p>
        </p:txBody>
      </p:sp>
      <p:sp>
        <p:nvSpPr>
          <p:cNvPr id="758540207" name="Rounded Rectangle 7"/>
          <p:cNvSpPr/>
          <p:nvPr/>
        </p:nvSpPr>
        <p:spPr bwMode="auto">
          <a:xfrm flipH="0" flipV="0">
            <a:off x="731519" y="1234439"/>
            <a:ext cx="7315200" cy="526795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&lt;?php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$email = trim($_POST['email'] ?? '');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if ($email === '') {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exit('Informe o e-mail.');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}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$stmt = $pdo-&gt;prepare(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'SELECT id, nome FROM usuarios WHERE email = :email'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$stmt-&gt;execute(['email' =&gt; $email]);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$usuario = $stmt-&gt;fetch(PDO::FETCH_ASSOC);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echo $usuario ? 'Usuário encontrado.' : 'Não encontrado.';</a:t>
            </a:r>
            <a:endParaRPr/>
          </a:p>
          <a:p>
            <a:pPr algn="l">
              <a:lnSpc>
                <a:spcPct val="15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?&gt;</a:t>
            </a:r>
            <a:endParaRPr/>
          </a:p>
        </p:txBody>
      </p:sp>
      <p:sp>
        <p:nvSpPr>
          <p:cNvPr id="556442953" name="TextBox 8"/>
          <p:cNvSpPr txBox="1"/>
          <p:nvPr/>
        </p:nvSpPr>
        <p:spPr bwMode="auto">
          <a:xfrm>
            <a:off x="8366760" y="1645920"/>
            <a:ext cx="27432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1">
                <a:solidFill>
                  <a:srgbClr val="BE192D"/>
                </a:solidFill>
                <a:latin typeface="Arial"/>
              </a:defRPr>
            </a:pPr>
            <a:r>
              <a:rPr/>
              <a:t>Pressupõe que $pdo já foi criado.</a:t>
            </a:r>
            <a:endParaRPr/>
          </a:p>
        </p:txBody>
      </p:sp>
      <p:sp>
        <p:nvSpPr>
          <p:cNvPr id="1434266734" name="TextBox 9"/>
          <p:cNvSpPr txBox="1"/>
          <p:nvPr/>
        </p:nvSpPr>
        <p:spPr bwMode="auto">
          <a:xfrm flipH="0" flipV="0">
            <a:off x="8366759" y="2651760"/>
            <a:ext cx="3338280" cy="138110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Login real exige verificar a senha com password_verify(), não apenas procurar o e-mail.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746333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747179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Segurança: erros comuns</a:t>
            </a:r>
            <a:endParaRPr/>
          </a:p>
        </p:txBody>
      </p:sp>
      <p:sp>
        <p:nvSpPr>
          <p:cNvPr id="1386184845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9166371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1256411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000315115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17</a:t>
            </a:r>
            <a:endParaRPr/>
          </a:p>
        </p:txBody>
      </p:sp>
      <p:sp>
        <p:nvSpPr>
          <p:cNvPr id="941896511" name="TextBox 7"/>
          <p:cNvSpPr txBox="1"/>
          <p:nvPr/>
        </p:nvSpPr>
        <p:spPr bwMode="auto">
          <a:xfrm>
            <a:off x="777240" y="1234440"/>
            <a:ext cx="10516320" cy="36010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Não concatene entradas do usuário diretamente no SQL.</a:t>
            </a:r>
            <a:endParaRPr sz="2000"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Não armazene senhas em texto puro: use password_hash() e password_verify().</a:t>
            </a:r>
            <a:endParaRPr sz="2000"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Não mostre detalhes técnicos ou credenciais ao visitante.</a:t>
            </a:r>
            <a:endParaRPr sz="2000"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Use um usuário de banco com permissões mínimas.</a:t>
            </a:r>
            <a:endParaRPr sz="2000"/>
          </a:p>
          <a:p>
            <a:pPr>
              <a:lnSpc>
                <a:spcPct val="200000"/>
              </a:lnSpc>
              <a:spcAft>
                <a:spcPts val="800"/>
              </a:spcAft>
              <a:defRPr sz="1900" b="0">
                <a:solidFill>
                  <a:srgbClr val="23262A"/>
                </a:solidFill>
                <a:latin typeface="Arial"/>
              </a:defRPr>
            </a:pPr>
            <a:r>
              <a:rPr sz="2000"/>
              <a:t>•  Valide no servidor, mesmo se houver validação HTML.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325511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7605707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Atividade de fixação — parte 1</a:t>
            </a:r>
            <a:endParaRPr/>
          </a:p>
        </p:txBody>
      </p:sp>
      <p:sp>
        <p:nvSpPr>
          <p:cNvPr id="1981800008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0056504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5528981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717357534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18</a:t>
            </a:r>
            <a:endParaRPr/>
          </a:p>
        </p:txBody>
      </p:sp>
      <p:sp>
        <p:nvSpPr>
          <p:cNvPr id="1905228196" name="Rounded Rectangle 7"/>
          <p:cNvSpPr/>
          <p:nvPr/>
        </p:nvSpPr>
        <p:spPr bwMode="auto">
          <a:xfrm>
            <a:off x="777240" y="114300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EM DUPLAS</a:t>
            </a:r>
            <a:endParaRPr/>
          </a:p>
        </p:txBody>
      </p:sp>
      <p:sp>
        <p:nvSpPr>
          <p:cNvPr id="639044915" name="TextBox 8"/>
          <p:cNvSpPr txBox="1"/>
          <p:nvPr/>
        </p:nvSpPr>
        <p:spPr bwMode="auto">
          <a:xfrm>
            <a:off x="777240" y="1737360"/>
            <a:ext cx="6401520" cy="288986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Crie o banco vendas e a tabela usuarios.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Insira 3 usuários fictícios com nome e e-mail.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Crie conexao.php usando PDO.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Exiba “Conexão realizada!” quando funcionar.</a:t>
            </a:r>
            <a:endParaRPr/>
          </a:p>
        </p:txBody>
      </p:sp>
      <p:sp>
        <p:nvSpPr>
          <p:cNvPr id="333349828" name="Rounded Rectangle 9"/>
          <p:cNvSpPr/>
          <p:nvPr/>
        </p:nvSpPr>
        <p:spPr bwMode="auto">
          <a:xfrm flipH="0" flipV="0">
            <a:off x="7452360" y="1828799"/>
            <a:ext cx="3749038" cy="335279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ctr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INSERT INTO usuarios (nome, email)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VALUES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('Ana Lima','ana@exemplo.com'),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('Bruno Reis','bruno@exemplo.com'),</a:t>
            </a:r>
            <a:endParaRPr/>
          </a:p>
          <a:p>
            <a:pPr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('Caio Souza','caio@exemplo.com');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174825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801713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Atividade de fixação — parte 2</a:t>
            </a:r>
            <a:endParaRPr/>
          </a:p>
        </p:txBody>
      </p:sp>
      <p:sp>
        <p:nvSpPr>
          <p:cNvPr id="1024967788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754533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6527701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459785116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19</a:t>
            </a:r>
            <a:endParaRPr/>
          </a:p>
        </p:txBody>
      </p:sp>
      <p:sp>
        <p:nvSpPr>
          <p:cNvPr id="335016623" name="TextBox 7"/>
          <p:cNvSpPr txBox="1"/>
          <p:nvPr/>
        </p:nvSpPr>
        <p:spPr bwMode="auto">
          <a:xfrm>
            <a:off x="777240" y="1280160"/>
            <a:ext cx="6401160" cy="36010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Crie listar.php e inclua a conexão.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Consulte id, nome e e-mail.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Mostre os resultados em uma lista HTML.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Use htmlspecialchars() ao exibir os dados.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Teste o comportamento com MySQL desligado.</a:t>
            </a:r>
            <a:endParaRPr/>
          </a:p>
        </p:txBody>
      </p:sp>
      <p:sp>
        <p:nvSpPr>
          <p:cNvPr id="1370340035" name="Rounded Rectangle 8"/>
          <p:cNvSpPr/>
          <p:nvPr/>
        </p:nvSpPr>
        <p:spPr bwMode="auto">
          <a:xfrm>
            <a:off x="7818120" y="1554480"/>
            <a:ext cx="2834640" cy="384048"/>
          </a:xfrm>
          <a:prstGeom prst="roundRect">
            <a:avLst>
              <a:gd name="adj" fmla="val 16667"/>
            </a:avLst>
          </a:prstGeom>
          <a:solidFill>
            <a:srgbClr val="FFF5D2"/>
          </a:solidFill>
          <a:ln>
            <a:solidFill>
              <a:srgbClr val="FFF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62A"/>
                </a:solidFill>
                <a:latin typeface="Arial"/>
              </a:defRPr>
            </a:pPr>
            <a:r>
              <a:rPr/>
              <a:t>DESAFIO EXTRA</a:t>
            </a:r>
            <a:endParaRPr/>
          </a:p>
        </p:txBody>
      </p:sp>
      <p:sp>
        <p:nvSpPr>
          <p:cNvPr id="325461012" name="TextBox 9"/>
          <p:cNvSpPr txBox="1"/>
          <p:nvPr/>
        </p:nvSpPr>
        <p:spPr bwMode="auto">
          <a:xfrm>
            <a:off x="7726678" y="2240280"/>
            <a:ext cx="3200760" cy="25850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Crie um formulário para pesquisar pelo e-mail usando prepare() e execute().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096360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6320821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Checklist de entrega</a:t>
            </a:r>
            <a:endParaRPr/>
          </a:p>
        </p:txBody>
      </p:sp>
      <p:sp>
        <p:nvSpPr>
          <p:cNvPr id="1036627142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5172655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836864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1638853743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20</a:t>
            </a:r>
            <a:endParaRPr/>
          </a:p>
        </p:txBody>
      </p:sp>
      <p:sp>
        <p:nvSpPr>
          <p:cNvPr id="1192278573" name="TextBox 7"/>
          <p:cNvSpPr txBox="1"/>
          <p:nvPr/>
        </p:nvSpPr>
        <p:spPr bwMode="auto">
          <a:xfrm>
            <a:off x="822960" y="1280160"/>
            <a:ext cx="10241640" cy="449514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Apache e MySQL iniciam corretamente.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O banco vendas e a tabela usuarios existem.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 conexão PDO funciona.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 consulta lista registros sem erro.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A saída usa htmlspecialchars().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100" b="0">
                <a:solidFill>
                  <a:srgbClr val="23262A"/>
                </a:solidFill>
                <a:latin typeface="Arial"/>
              </a:defRPr>
            </a:pPr>
            <a:r>
              <a:rPr/>
              <a:t>•  O código está organizado e comentado.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37512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3852653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Gabarito orientador — conexão PDO</a:t>
            </a:r>
            <a:endParaRPr/>
          </a:p>
        </p:txBody>
      </p:sp>
      <p:sp>
        <p:nvSpPr>
          <p:cNvPr id="574082739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2443388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551195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884339405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21</a:t>
            </a:r>
            <a:endParaRPr/>
          </a:p>
        </p:txBody>
      </p:sp>
      <p:sp>
        <p:nvSpPr>
          <p:cNvPr id="789369549" name="Rounded Rectangle 7"/>
          <p:cNvSpPr/>
          <p:nvPr/>
        </p:nvSpPr>
        <p:spPr bwMode="auto">
          <a:xfrm flipH="0" flipV="0">
            <a:off x="731519" y="850899"/>
            <a:ext cx="7315200" cy="570229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&lt;?php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$dsn = 'mysql:host=localhost;dbname=vendas;charset=utf8mb4';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$user = 'root';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$pass = '';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try {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$pdo = new PDO($dsn, $user, $pass, [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  PDO::ATTR_ERRMODE =&gt; PDO::ERRMODE_EXCEPTION,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  PDO::ATTR_DEFAULT_FETCH_MODE =&gt; PDO::FETCH_ASSOC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]);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echo 'Conexão realizada!';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} catch (PDOException $e) {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error_log($e-&gt;getMessage());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    echo 'Não foi possível conectar ao banco.';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}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300">
                <a:solidFill>
                  <a:srgbClr val="EEF1F4"/>
                </a:solidFill>
                <a:latin typeface="Consolas"/>
              </a:defRPr>
            </a:pPr>
            <a:r>
              <a:rPr/>
              <a:t>?&gt;</a:t>
            </a:r>
            <a:endParaRPr/>
          </a:p>
        </p:txBody>
      </p:sp>
      <p:sp>
        <p:nvSpPr>
          <p:cNvPr id="325501354" name="TextBox 8"/>
          <p:cNvSpPr txBox="1"/>
          <p:nvPr/>
        </p:nvSpPr>
        <p:spPr bwMode="auto">
          <a:xfrm>
            <a:off x="8321039" y="1645920"/>
            <a:ext cx="2743200" cy="1920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3262A"/>
                </a:solidFill>
                <a:latin typeface="Arial"/>
              </a:defRPr>
            </a:pPr>
            <a:r>
              <a:rPr/>
              <a:t>Adapte usuário, senha e nome do banco ao ambiente da escola.</a:t>
            </a:r>
            <a:endParaRPr/>
          </a:p>
        </p:txBody>
      </p:sp>
      <p:sp>
        <p:nvSpPr>
          <p:cNvPr id="622165577" name="TextBox 9"/>
          <p:cNvSpPr txBox="1"/>
          <p:nvPr/>
        </p:nvSpPr>
        <p:spPr bwMode="auto">
          <a:xfrm>
            <a:off x="8321039" y="3657600"/>
            <a:ext cx="2743200" cy="10058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1">
                <a:solidFill>
                  <a:srgbClr val="BE192D"/>
                </a:solidFill>
                <a:latin typeface="Arial"/>
              </a:defRPr>
            </a:pPr>
            <a:r>
              <a:rPr/>
              <a:t>Teste e explique cada linha.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087727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6522231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Gabarito orientador — listagem</a:t>
            </a:r>
            <a:endParaRPr/>
          </a:p>
        </p:txBody>
      </p:sp>
      <p:sp>
        <p:nvSpPr>
          <p:cNvPr id="1876909616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376265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520480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361144496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22</a:t>
            </a:r>
            <a:endParaRPr/>
          </a:p>
        </p:txBody>
      </p:sp>
      <p:sp>
        <p:nvSpPr>
          <p:cNvPr id="1510408519" name="Rounded Rectangle 7"/>
          <p:cNvSpPr/>
          <p:nvPr/>
        </p:nvSpPr>
        <p:spPr bwMode="auto">
          <a:xfrm flipH="0" flipV="0">
            <a:off x="731519" y="1234439"/>
            <a:ext cx="7406640" cy="5153659"/>
          </a:xfrm>
          <a:prstGeom prst="roundRect">
            <a:avLst>
              <a:gd name="adj" fmla="val 16667"/>
            </a:avLst>
          </a:prstGeom>
          <a:solidFill>
            <a:srgbClr val="23262A"/>
          </a:solidFill>
          <a:ln>
            <a:solidFill>
              <a:srgbClr val="23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18872" rtlCol="0" anchor="ctr"/>
          <a:lstStyle/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&lt;?php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require 'conexao.php'; // deve criar $pdo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$stmt = $pdo-&gt;query('SELECT id, nome, email FROM usuarios');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while ($usuario = $stmt-&gt;fetch()) {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echo '&lt;p&gt;';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echo htmlspecialchars($usuario['nome']) . ' — 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echo htmlspecialchars($usuario['email']);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    echo '&lt;/p&gt;';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}</a:t>
            </a:r>
            <a:endParaRPr/>
          </a:p>
          <a:p>
            <a:pPr algn="l">
              <a:lnSpc>
                <a:spcPct val="200000"/>
              </a:lnSpc>
              <a:spcAft>
                <a:spcPts val="200"/>
              </a:spcAft>
              <a:defRPr sz="1400">
                <a:solidFill>
                  <a:srgbClr val="EEF1F4"/>
                </a:solidFill>
                <a:latin typeface="Consolas"/>
              </a:defRPr>
            </a:pPr>
            <a:r>
              <a:rPr/>
              <a:t>?&gt;</a:t>
            </a:r>
            <a:endParaRPr/>
          </a:p>
        </p:txBody>
      </p:sp>
      <p:sp>
        <p:nvSpPr>
          <p:cNvPr id="2043737188" name="TextBox 8"/>
          <p:cNvSpPr txBox="1"/>
          <p:nvPr/>
        </p:nvSpPr>
        <p:spPr bwMode="auto">
          <a:xfrm flipH="0" flipV="0">
            <a:off x="8366759" y="1645920"/>
            <a:ext cx="3338280" cy="27374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700" b="0">
                <a:solidFill>
                  <a:srgbClr val="23262A"/>
                </a:solidFill>
                <a:latin typeface="Arial"/>
              </a:defRPr>
            </a:pPr>
            <a:r>
              <a:rPr/>
              <a:t>Se conexao.php também imprimir uma mensagem, ela aparecerá antes da lista. Em projetos maiores, separe configuração e apresentação.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836215" name="Rectangle 1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7632962" name="TextBox 2"/>
          <p:cNvSpPr txBox="1"/>
          <p:nvPr/>
        </p:nvSpPr>
        <p:spPr bwMode="auto">
          <a:xfrm>
            <a:off x="365760" y="201168"/>
            <a:ext cx="114300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  <a:defRPr sz="2800" b="1">
                <a:solidFill>
                  <a:srgbClr val="23262A"/>
                </a:solidFill>
                <a:latin typeface="Arial Black"/>
              </a:defRPr>
            </a:pPr>
            <a:r>
              <a:rPr/>
              <a:t>Fechamento: o que aprendemos?</a:t>
            </a:r>
            <a:endParaRPr/>
          </a:p>
        </p:txBody>
      </p:sp>
      <p:sp>
        <p:nvSpPr>
          <p:cNvPr id="1471243806" name="Rectangle 3"/>
          <p:cNvSpPr/>
          <p:nvPr/>
        </p:nvSpPr>
        <p:spPr bwMode="auto">
          <a:xfrm>
            <a:off x="502920" y="749808"/>
            <a:ext cx="11183112" cy="32004"/>
          </a:xfrm>
          <a:prstGeom prst="rect">
            <a:avLst/>
          </a:prstGeom>
          <a:solidFill>
            <a:srgbClr val="BE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0455085" name="Rectangle 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23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2058035" name="TextBox 5"/>
          <p:cNvSpPr txBox="1"/>
          <p:nvPr/>
        </p:nvSpPr>
        <p:spPr bwMode="auto">
          <a:xfrm>
            <a:off x="411480" y="66111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rPr/>
              <a:t>PROGRAMACAO WEB II • PHP + BANCO DE DADOS</a:t>
            </a:r>
            <a:endParaRPr/>
          </a:p>
        </p:txBody>
      </p:sp>
      <p:sp>
        <p:nvSpPr>
          <p:cNvPr id="789224823" name="TextBox 6"/>
          <p:cNvSpPr txBox="1"/>
          <p:nvPr/>
        </p:nvSpPr>
        <p:spPr bwMode="auto">
          <a:xfrm>
            <a:off x="11201400" y="66111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rPr/>
              <a:t>23</a:t>
            </a:r>
            <a:endParaRPr/>
          </a:p>
        </p:txBody>
      </p:sp>
      <p:sp>
        <p:nvSpPr>
          <p:cNvPr id="2074716441" name="TextBox 7"/>
          <p:cNvSpPr txBox="1"/>
          <p:nvPr/>
        </p:nvSpPr>
        <p:spPr bwMode="auto">
          <a:xfrm>
            <a:off x="822960" y="1280160"/>
            <a:ext cx="6584039" cy="36010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PHP executa no servidor.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PDO cria a conexão com o banco.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SQL consulta e manipula dados.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Consultas preparadas ajudam na segurança.</a:t>
            </a:r>
            <a:endParaRPr/>
          </a:p>
          <a:p>
            <a:pPr>
              <a:lnSpc>
                <a:spcPct val="200000"/>
              </a:lnSpc>
              <a:spcAft>
                <a:spcPts val="800"/>
              </a:spcAft>
              <a:defRPr sz="2000" b="0">
                <a:solidFill>
                  <a:srgbClr val="23262A"/>
                </a:solidFill>
                <a:latin typeface="Arial"/>
              </a:defRPr>
            </a:pPr>
            <a:r>
              <a:rPr/>
              <a:t>•  Testar e tratar erros faz parte do desenvolvimento.</a:t>
            </a:r>
            <a:endParaRPr/>
          </a:p>
        </p:txBody>
      </p:sp>
      <p:sp>
        <p:nvSpPr>
          <p:cNvPr id="359183945" name="Rounded Rectangle 8"/>
          <p:cNvSpPr/>
          <p:nvPr/>
        </p:nvSpPr>
        <p:spPr bwMode="auto">
          <a:xfrm>
            <a:off x="7909560" y="182880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FCEBEE"/>
          </a:solidFill>
          <a:ln>
            <a:solidFill>
              <a:srgbClr val="FC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92D"/>
                </a:solidFill>
                <a:latin typeface="Arial"/>
              </a:defRPr>
            </a:pPr>
            <a:r>
              <a:rPr/>
              <a:t>SAÍDA RÁPIDA</a:t>
            </a:r>
            <a:endParaRPr/>
          </a:p>
        </p:txBody>
      </p:sp>
      <p:sp>
        <p:nvSpPr>
          <p:cNvPr id="460441183" name="TextBox 9"/>
          <p:cNvSpPr txBox="1"/>
          <p:nvPr/>
        </p:nvSpPr>
        <p:spPr bwMode="auto">
          <a:xfrm>
            <a:off x="7772400" y="2468880"/>
            <a:ext cx="3109320" cy="197546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 sz="2000" b="1">
                <a:solidFill>
                  <a:srgbClr val="23262A"/>
                </a:solidFill>
                <a:latin typeface="Arial"/>
              </a:defRPr>
            </a:pPr>
            <a:r>
              <a:rPr/>
              <a:t>Por que o navegador não deve acessar o banco diretamente?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+ MySQL: Criando conexões com bancos de dados</dc:title>
  <dc:subject>Programação Web II — aula introdutória com PDO, MySQLi e atividade prática</dc:subject>
  <dc:creator>Material didático</dc:creator>
  <cp:keywords/>
  <dc:description>generated using python-pptx</dc:description>
  <cp:lastModifiedBy/>
  <cp:revision>2</cp:revision>
  <dcterms:created xsi:type="dcterms:W3CDTF">2013-01-27T09:14:16Z</dcterms:created>
  <dcterms:modified xsi:type="dcterms:W3CDTF">2026-10-22T18:00:46Z</dcterms:modified>
  <cp:category/>
</cp:coreProperties>
</file>